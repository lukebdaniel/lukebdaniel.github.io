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XQDYNFtEQgzDVb8TsvZ3fEXo1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5FB772"/>
              </a:solidFill>
              <a:ln w="31750" cap="flat">
                <a:solidFill>
                  <a:srgbClr val="FFFFFF"/>
                </a:solidFill>
                <a:prstDash val="solid"/>
                <a:round/>
              </a:ln>
              <a:effectLst/>
            </c:spPr>
            <c:extLst>
              <c:ext xmlns:c16="http://schemas.microsoft.com/office/drawing/2014/chart" uri="{C3380CC4-5D6E-409C-BE32-E72D297353CC}">
                <c16:uniqueId val="{00000001-AE2F-A240-AAD4-415298725ABF}"/>
              </c:ext>
            </c:extLst>
          </c:dPt>
          <c:dPt>
            <c:idx val="1"/>
            <c:bubble3D val="0"/>
            <c:spPr>
              <a:solidFill>
                <a:srgbClr val="DEA54F"/>
              </a:solidFill>
              <a:ln w="31750" cap="flat">
                <a:solidFill>
                  <a:srgbClr val="FFFFFF"/>
                </a:solidFill>
                <a:prstDash val="solid"/>
                <a:round/>
              </a:ln>
              <a:effectLst/>
            </c:spPr>
            <c:extLst>
              <c:ext xmlns:c16="http://schemas.microsoft.com/office/drawing/2014/chart" uri="{C3380CC4-5D6E-409C-BE32-E72D297353CC}">
                <c16:uniqueId val="{00000003-AE2F-A240-AAD4-415298725ABF}"/>
              </c:ext>
            </c:extLst>
          </c:dPt>
          <c:dPt>
            <c:idx val="2"/>
            <c:bubble3D val="0"/>
            <c:spPr>
              <a:solidFill>
                <a:srgbClr val="4CA19A"/>
              </a:solidFill>
              <a:ln w="31750" cap="flat">
                <a:solidFill>
                  <a:srgbClr val="FFFFFF"/>
                </a:solidFill>
                <a:prstDash val="solid"/>
                <a:round/>
              </a:ln>
              <a:effectLst/>
            </c:spPr>
            <c:extLst>
              <c:ext xmlns:c16="http://schemas.microsoft.com/office/drawing/2014/chart" uri="{C3380CC4-5D6E-409C-BE32-E72D297353CC}">
                <c16:uniqueId val="{00000005-AE2F-A240-AAD4-415298725ABF}"/>
              </c:ext>
            </c:extLst>
          </c:dPt>
          <c:dPt>
            <c:idx val="3"/>
            <c:bubble3D val="0"/>
            <c:spPr>
              <a:solidFill>
                <a:srgbClr val="845EEE"/>
              </a:solidFill>
              <a:ln w="31750" cap="flat">
                <a:solidFill>
                  <a:srgbClr val="FFFFFF"/>
                </a:solidFill>
                <a:prstDash val="solid"/>
                <a:round/>
              </a:ln>
              <a:effectLst/>
            </c:spPr>
            <c:extLst>
              <c:ext xmlns:c16="http://schemas.microsoft.com/office/drawing/2014/chart" uri="{C3380CC4-5D6E-409C-BE32-E72D297353CC}">
                <c16:uniqueId val="{00000007-AE2F-A240-AAD4-415298725ABF}"/>
              </c:ext>
            </c:extLst>
          </c:dPt>
          <c:dPt>
            <c:idx val="4"/>
            <c:bubble3D val="0"/>
            <c:spPr>
              <a:solidFill>
                <a:srgbClr val="DC728D"/>
              </a:solidFill>
              <a:ln w="31750" cap="flat">
                <a:solidFill>
                  <a:srgbClr val="FFFFFF"/>
                </a:solidFill>
                <a:prstDash val="solid"/>
                <a:round/>
              </a:ln>
              <a:effectLst/>
            </c:spPr>
            <c:extLst>
              <c:ext xmlns:c16="http://schemas.microsoft.com/office/drawing/2014/chart" uri="{C3380CC4-5D6E-409C-BE32-E72D297353CC}">
                <c16:uniqueId val="{00000009-AE2F-A240-AAD4-415298725ABF}"/>
              </c:ext>
            </c:extLst>
          </c:dPt>
          <c:dPt>
            <c:idx val="5"/>
            <c:bubble3D val="0"/>
            <c:spPr>
              <a:solidFill>
                <a:srgbClr val="4E81EE"/>
              </a:solidFill>
              <a:ln w="31750" cap="flat">
                <a:solidFill>
                  <a:srgbClr val="FFFFFF"/>
                </a:solidFill>
                <a:prstDash val="solid"/>
                <a:round/>
              </a:ln>
              <a:effectLst/>
            </c:spPr>
            <c:extLst>
              <c:ext xmlns:c16="http://schemas.microsoft.com/office/drawing/2014/chart" uri="{C3380CC4-5D6E-409C-BE32-E72D297353CC}">
                <c16:uniqueId val="{0000000B-AE2F-A240-AAD4-415298725ABF}"/>
              </c:ext>
            </c:extLst>
          </c:dPt>
          <c:dLbls>
            <c:dLbl>
              <c:idx val="0"/>
              <c:numFmt formatCode="0&quot;%&quot;" sourceLinked="0"/>
              <c:spPr/>
              <c:txPr>
                <a:bodyPr/>
                <a:lstStyle/>
                <a:p>
                  <a:pPr>
                    <a:defRPr sz="13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E2F-A240-AAD4-415298725ABF}"/>
                </c:ext>
              </c:extLst>
            </c:dLbl>
            <c:dLbl>
              <c:idx val="1"/>
              <c:numFmt formatCode="0&quot;%&quot;" sourceLinked="0"/>
              <c:spPr/>
              <c:txPr>
                <a:bodyPr/>
                <a:lstStyle/>
                <a:p>
                  <a:pPr>
                    <a:defRPr sz="13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E2F-A240-AAD4-415298725ABF}"/>
                </c:ext>
              </c:extLst>
            </c:dLbl>
            <c:dLbl>
              <c:idx val="2"/>
              <c:numFmt formatCode="0&quot;%&quot;" sourceLinked="0"/>
              <c:spPr/>
              <c:txPr>
                <a:bodyPr/>
                <a:lstStyle/>
                <a:p>
                  <a:pPr>
                    <a:defRPr sz="13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E2F-A240-AAD4-415298725ABF}"/>
                </c:ext>
              </c:extLst>
            </c:dLbl>
            <c:dLbl>
              <c:idx val="3"/>
              <c:numFmt formatCode="0&quot;%&quot;" sourceLinked="0"/>
              <c:spPr/>
              <c:txPr>
                <a:bodyPr/>
                <a:lstStyle/>
                <a:p>
                  <a:pPr>
                    <a:defRPr sz="13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E2F-A240-AAD4-415298725ABF}"/>
                </c:ext>
              </c:extLst>
            </c:dLbl>
            <c:dLbl>
              <c:idx val="4"/>
              <c:numFmt formatCode="0&quot;%&quot;" sourceLinked="0"/>
              <c:spPr/>
              <c:txPr>
                <a:bodyPr/>
                <a:lstStyle/>
                <a:p>
                  <a:pPr>
                    <a:defRPr sz="13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E2F-A240-AAD4-415298725ABF}"/>
                </c:ext>
              </c:extLst>
            </c:dLbl>
            <c:dLbl>
              <c:idx val="5"/>
              <c:numFmt formatCode="0&quot;%&quot;" sourceLinked="0"/>
              <c:spPr/>
              <c:txPr>
                <a:bodyPr/>
                <a:lstStyle/>
                <a:p>
                  <a:pPr>
                    <a:defRPr sz="13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E2F-A240-AAD4-415298725ABF}"/>
                </c:ext>
              </c:extLst>
            </c:dLbl>
            <c:numFmt formatCode="0&quot;%&quot;"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Funding</c:v>
                </c:pt>
                <c:pt idx="1">
                  <c:v>Grants</c:v>
                </c:pt>
                <c:pt idx="2">
                  <c:v>Hiring</c:v>
                </c:pt>
                <c:pt idx="3">
                  <c:v>IP</c:v>
                </c:pt>
                <c:pt idx="4">
                  <c:v>Accelerator / incubator</c:v>
                </c:pt>
                <c:pt idx="5">
                  <c:v>Public support &amp; other</c:v>
                </c:pt>
              </c:strCache>
            </c:strRef>
          </c:cat>
          <c:val>
            <c:numRef>
              <c:f>Sheet1!$B$2:$B$7</c:f>
              <c:numCache>
                <c:formatCode>General</c:formatCode>
                <c:ptCount val="6"/>
                <c:pt idx="0">
                  <c:v>30</c:v>
                </c:pt>
                <c:pt idx="1">
                  <c:v>20</c:v>
                </c:pt>
                <c:pt idx="2">
                  <c:v>20</c:v>
                </c:pt>
                <c:pt idx="3">
                  <c:v>15</c:v>
                </c:pt>
                <c:pt idx="4">
                  <c:v>10</c:v>
                </c:pt>
                <c:pt idx="5">
                  <c:v>5</c:v>
                </c:pt>
              </c:numCache>
            </c:numRef>
          </c:val>
          <c:extLst>
            <c:ext xmlns:c16="http://schemas.microsoft.com/office/drawing/2014/chart" uri="{C3380CC4-5D6E-409C-BE32-E72D297353CC}">
              <c16:uniqueId val="{0000000C-AE2F-A240-AAD4-415298725ABF}"/>
            </c:ext>
          </c:extLst>
        </c:ser>
        <c:dLbls>
          <c:showLegendKey val="0"/>
          <c:showVal val="0"/>
          <c:showCatName val="0"/>
          <c:showSerName val="0"/>
          <c:showPercent val="0"/>
          <c:showBubbleSize val="0"/>
          <c:showLeaderLines val="0"/>
        </c:dLbls>
        <c:firstSliceAng val="0"/>
        <c:holeSize val="55"/>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Companies</c:v>
                </c:pt>
              </c:strCache>
            </c:strRef>
          </c:tx>
          <c:spPr>
            <a:solidFill>
              <a:srgbClr val="29593E"/>
            </a:solidFill>
            <a:effectLst/>
          </c:spPr>
          <c:invertIfNegative val="0"/>
          <c:dLbls>
            <c:numFmt formatCode="#,##0" sourceLinked="0"/>
            <c:spPr>
              <a:noFill/>
              <a:ln>
                <a:noFill/>
              </a:ln>
              <a:effectLst/>
            </c:spPr>
            <c:txPr>
              <a:bodyPr/>
              <a:lstStyle/>
              <a:p>
                <a:pPr>
                  <a:defRPr sz="1300" b="1" i="0" u="none" strike="noStrike">
                    <a:solidFill>
                      <a:srgbClr val="17261D"/>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Technology</c:v>
                </c:pt>
                <c:pt idx="1">
                  <c:v>Fintech</c:v>
                </c:pt>
                <c:pt idx="2">
                  <c:v>Climate</c:v>
                </c:pt>
                <c:pt idx="3">
                  <c:v>Life sciences</c:v>
                </c:pt>
              </c:strCache>
            </c:strRef>
          </c:cat>
          <c:val>
            <c:numRef>
              <c:f>Sheet1!$B$2:$B$5</c:f>
              <c:numCache>
                <c:formatCode>General</c:formatCode>
                <c:ptCount val="4"/>
                <c:pt idx="0">
                  <c:v>22</c:v>
                </c:pt>
                <c:pt idx="1">
                  <c:v>28</c:v>
                </c:pt>
                <c:pt idx="2">
                  <c:v>35</c:v>
                </c:pt>
                <c:pt idx="3">
                  <c:v>48</c:v>
                </c:pt>
              </c:numCache>
            </c:numRef>
          </c:val>
          <c:extLst>
            <c:ext xmlns:c16="http://schemas.microsoft.com/office/drawing/2014/chart" uri="{C3380CC4-5D6E-409C-BE32-E72D297353CC}">
              <c16:uniqueId val="{00000000-C906-AA48-AADF-F7CF539E573F}"/>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7261D"/>
                </a:solidFill>
                <a:latin typeface="Calibri"/>
              </a:defRPr>
            </a:pPr>
            <a:endParaRPr lang="en-US"/>
          </a:p>
        </c:txPr>
        <c:crossAx val="2094734552"/>
        <c:crosses val="autoZero"/>
        <c:auto val="1"/>
        <c:lblAlgn val="ctr"/>
        <c:lblOffset val="100"/>
        <c:noMultiLvlLbl val="1"/>
      </c:catAx>
      <c:valAx>
        <c:axId val="2094734552"/>
        <c:scaling>
          <c:orientation val="minMax"/>
          <c:max val="6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NJ Startup Signals helps investors and ecosystem teams discover promising New Jersey startups earlier. We bring together the signals that are usually scattered across funding records, grants, hiring, intellectual property, and accelerator programs. The result is a map and ranked view of startup momentum, with company profiles that show the signals behind each opportunity.</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Source: User-approved solution. NJ Startup Signals is a provisional project name.</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challenge is seeing momentum early. One startup may have received a grant, another may be adding technical roles, and another may have filed new intellectual property. Those signals sit in different places. Investors and ecosystem teams have to collect and compare them manually before they can begin evaluating the company. That makes it difficult to identify which companies, and which sectors, are gaining real traction across New Jersey.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solution and presentation outline.</a:t>
            </a:r>
            <a:endParaRPr/>
          </a:p>
        </p:txBody>
      </p:sp>
      <p:sp>
        <p:nvSpPr>
          <p:cNvPr id="35" name="Google Shape;3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Our MVP connects an interactive map with a ranked list of New Jersey startups. Every company receives a Startup Score from zero to one hundred, based on six types of signals. Users can locate companies, compare their scores, and open a profile to see the detected signals. They can also move from individual companies to sector clusters, giving them a broader view of where momentum is building.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solution and presentation outline.</a:t>
            </a:r>
            <a:endParaRPr/>
          </a:p>
        </p:txBody>
      </p:sp>
      <p:sp>
        <p:nvSpPr>
          <p:cNvPr id="68" name="Google Shape;6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Discover earlier. Evaluate faster. Build relationships before the opportunity is widely known. This is why speed matters. Other investors may be looking for the same promising companies. While one team is still collecting information, another may already have started a conversation. By combining the signals, we help users begin assessing opportunities sooner and create a chance to build relationships earlier.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Why Now message. This is a competitive rationale, not a claim that competition has recently increased or a guarantee of investment outcomes.</a:t>
            </a:r>
            <a:endParaRPr/>
          </a:p>
        </p:txBody>
      </p:sp>
      <p:sp>
        <p:nvSpPr>
          <p:cNvPr id="107" name="Google Shape;10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We serve three groups. Investors use the platform to find and compare emerging opportunities. Ecosystem builders use it to identify companies and connect them with programs, networks, and support. Economic development groups use it to understand growth by geography and industry. The underlying signals are shared, while the views and scoring weights let each group focus on its own priorities.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solution and presentation outline.</a:t>
            </a:r>
            <a:endParaRPr/>
          </a:p>
        </p:txBody>
      </p:sp>
      <p:sp>
        <p:nvSpPr>
          <p:cNvPr id="135" name="Google Shape;13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We organize the data into six signal types. Funding comes from sources such as SEC Form D. Grants include SBIR, NIH, NSF, and publicly available NJEDA awards. Hiring captures open roles and the share of technical roles. IP captures recent patent and trademark filings. Accelerator listings and public support provide further context. For the hackathon, we use real data where it is quick to obtain, permissioned data where available, and clearly labeled samples where needed.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solution and presentation outline.</a:t>
            </a:r>
            <a:endParaRPr/>
          </a:p>
        </p:txBody>
      </p:sp>
      <p:sp>
        <p:nvSpPr>
          <p:cNvPr id="160" name="Google Shape;16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concept screen shows the main experience. The map places one startup pin at each geocoded address. Color identifies the sector, and size reflects the Startup Score. Pins cluster when the user zooms out so dense areas such as Newark, Princeton, and Jersey City remain readable. The ranked list sits beside the map. Clicking either a company row or a pin opens its profile. A county-level score-density heatmap is an optional layer.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product specification. Screen generated with the built-in image_gen tool. Fictional company names and sample scores. Concept visualization, not a completed or live application. Map geometry is illustrative.</a:t>
            </a:r>
            <a:endParaRPr/>
          </a:p>
        </p:txBody>
      </p:sp>
      <p:sp>
        <p:nvSpPr>
          <p:cNvPr id="212" name="Google Shape;21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user journey is straightforward. Start by filtering for a sector, a county, a minimum score, or specific signal types. Select a company in the ranked list, and the map flies to its location while the profile opens. Users can also select the map pin directly. The profile brings the company overview, location, sector, score, and detected signals together so they can decide what to investigate next.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solution and presentation outline.</a:t>
            </a:r>
            <a:endParaRPr/>
          </a:p>
        </p:txBody>
      </p:sp>
      <p:sp>
        <p:nvSpPr>
          <p:cNvPr id="237" name="Google Shape;23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default score is a weighted sum of six normalized signals. Funding contributes thirty percent. Grants and hiring contribute twenty percent each. IP contributes fifteen percent, accelerator participation ten percent, and public support five percent. Within grants, SBIR Phase II counts twice Phase I. Accelerator participation can receive a boost for selective programs. Companies with several independent signal types receive an additional boost. This is the scoring structure behind the zero-to-one-hundred ranking.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scoring model. The original specification does not define normalization functions, recency windows, bonus size, or final score capping. No additional formulas have been invented.</a:t>
            </a:r>
            <a:endParaRPr/>
          </a:p>
        </p:txBody>
      </p:sp>
      <p:sp>
        <p:nvSpPr>
          <p:cNvPr id="265" name="Google Shape;26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platform also supports different evaluation priorities. Users can adjust one slider per signal and see the rankings update live. Investor view increases the emphasis on funding and IP. Ecosystem view increases the emphasis on hiring and grants. Both views work from the same signal base, allowing users to explore the ecosystem through a lens that matches their role.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presets. Exact preset percentages were not supplied and are not asserted.</a:t>
            </a:r>
            <a:endParaRPr/>
          </a:p>
        </p:txBody>
      </p:sp>
      <p:sp>
        <p:nvSpPr>
          <p:cNvPr id="299" name="Google Shape;29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same signals also support an industry-level view. We group companies into sector clusters and compare depth, breadth, and year-over-year growth through sector cards or a bar chart. This helps users look beyond one company and explore where activity is concentrated across New Jersey. The chart here illustrates the presentation of company counts only. Its values are sample data, not evidence of actual sector performance.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sector view. Sample values: Life sciences 48, Climate 35, Fintech 28, Technology 22. Definitions of depth and breadth are not expanded beyond the approved scope.</a:t>
            </a:r>
            <a:endParaRPr/>
          </a:p>
        </p:txBody>
      </p:sp>
      <p:sp>
        <p:nvSpPr>
          <p:cNvPr id="360" name="Google Shape;36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For the hackathon, we are keeping the scope focused: a few hundred New Jersey companies, real data where it is quick to access, and clearly labeled sample data where needed. We will deliver a working prototype that aggregates and displays the signals, a Startup Score with filters and adjustable weights, and a view of sector clusters and trends. The outcome is simple: see which companies deserve attention, where they are, and what signals support that assessment, so the next conversation can begin earlier.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User-approved solution and presentation outline.</a:t>
            </a:r>
            <a:endParaRPr/>
          </a:p>
        </p:txBody>
      </p:sp>
      <p:sp>
        <p:nvSpPr>
          <p:cNvPr id="389" name="Google Shape;389;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9.png"/><Relationship Id="rId7" Type="http://schemas.openxmlformats.org/officeDocument/2006/relationships/image" Target="../media/image13.png"/><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33.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9.png"/><Relationship Id="rId7" Type="http://schemas.openxmlformats.org/officeDocument/2006/relationships/image" Target="../media/image13.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9.png"/><Relationship Id="rId6"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2.xml"/><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image" Target="../media/image23.png"/><Relationship Id="rId7"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1"/>
        </a:solidFill>
      </p:bgPr>
    </p:bg>
    <p:spTree>
      <p:nvGrpSpPr>
        <p:cNvPr id="11" name="Shape 11"/>
        <p:cNvGrpSpPr/>
        <p:nvPr/>
      </p:nvGrpSpPr>
      <p:grpSpPr>
        <a:xfrm>
          <a:off x="0" y="0"/>
          <a:ext cx="0" cy="0"/>
          <a:chOff x="0" y="0"/>
          <a:chExt cx="0" cy="0"/>
        </a:xfrm>
      </p:grpSpPr>
      <p:sp>
        <p:nvSpPr>
          <p:cNvPr id="12" name="Google Shape;12;p1"/>
          <p:cNvSpPr/>
          <p:nvPr/>
        </p:nvSpPr>
        <p:spPr>
          <a:xfrm>
            <a:off x="0" y="0"/>
            <a:ext cx="5806440" cy="6858000"/>
          </a:xfrm>
          <a:prstGeom prst="rect">
            <a:avLst/>
          </a:prstGeom>
          <a:solidFill>
            <a:srgbClr val="1F463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640080" y="594360"/>
            <a:ext cx="502920" cy="502920"/>
          </a:xfrm>
          <a:prstGeom prst="roundRect">
            <a:avLst>
              <a:gd fmla="val 28000" name="adj"/>
            </a:avLst>
          </a:prstGeom>
          <a:solidFill>
            <a:srgbClr val="2C5E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 name="Google Shape;14;p1"/>
          <p:cNvPicPr preferRelativeResize="0"/>
          <p:nvPr/>
        </p:nvPicPr>
        <p:blipFill rotWithShape="1">
          <a:blip r:embed="rId3">
            <a:alphaModFix/>
          </a:blip>
          <a:srcRect b="0" l="0" r="0" t="0"/>
          <a:stretch/>
        </p:blipFill>
        <p:spPr>
          <a:xfrm>
            <a:off x="765810" y="720090"/>
            <a:ext cx="251460" cy="251460"/>
          </a:xfrm>
          <a:prstGeom prst="rect">
            <a:avLst/>
          </a:prstGeom>
          <a:noFill/>
          <a:ln>
            <a:noFill/>
          </a:ln>
        </p:spPr>
      </p:pic>
      <p:sp>
        <p:nvSpPr>
          <p:cNvPr id="15" name="Google Shape;15;p1"/>
          <p:cNvSpPr txBox="1"/>
          <p:nvPr/>
        </p:nvSpPr>
        <p:spPr>
          <a:xfrm>
            <a:off x="1280160" y="594360"/>
            <a:ext cx="4114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DDB5"/>
              </a:buClr>
              <a:buSzPts val="1200"/>
              <a:buFont typeface="Calibri"/>
              <a:buNone/>
            </a:pPr>
            <a:r>
              <a:rPr b="1" lang="en-US" sz="1200">
                <a:solidFill>
                  <a:srgbClr val="A8DDB5"/>
                </a:solidFill>
                <a:latin typeface="Calibri"/>
                <a:ea typeface="Calibri"/>
                <a:cs typeface="Calibri"/>
                <a:sym typeface="Calibri"/>
              </a:rPr>
              <a:t>1435 CAPITAL CHALLENGE</a:t>
            </a:r>
            <a:endParaRPr sz="1200">
              <a:solidFill>
                <a:schemeClr val="dk1"/>
              </a:solidFill>
              <a:latin typeface="Calibri"/>
              <a:ea typeface="Calibri"/>
              <a:cs typeface="Calibri"/>
              <a:sym typeface="Calibri"/>
            </a:endParaRPr>
          </a:p>
        </p:txBody>
      </p:sp>
      <p:sp>
        <p:nvSpPr>
          <p:cNvPr id="16" name="Google Shape;16;p1"/>
          <p:cNvSpPr txBox="1"/>
          <p:nvPr/>
        </p:nvSpPr>
        <p:spPr>
          <a:xfrm>
            <a:off x="640080" y="1417320"/>
            <a:ext cx="5029200" cy="219456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FFFFFF"/>
              </a:buClr>
              <a:buSzPts val="6200"/>
              <a:buFont typeface="Arial"/>
              <a:buNone/>
            </a:pPr>
            <a:r>
              <a:rPr b="1" lang="en-US" sz="6200">
                <a:solidFill>
                  <a:srgbClr val="FFFFFF"/>
                </a:solidFill>
                <a:latin typeface="Arial"/>
                <a:ea typeface="Arial"/>
                <a:cs typeface="Arial"/>
                <a:sym typeface="Arial"/>
              </a:rPr>
              <a:t>NJ Startup</a:t>
            </a:r>
            <a:endParaRPr sz="6200">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A8DDB5"/>
              </a:buClr>
              <a:buSzPts val="6200"/>
              <a:buFont typeface="Arial"/>
              <a:buNone/>
            </a:pPr>
            <a:r>
              <a:rPr b="1" lang="en-US" sz="6200">
                <a:solidFill>
                  <a:srgbClr val="A8DDB5"/>
                </a:solidFill>
                <a:latin typeface="Arial"/>
                <a:ea typeface="Arial"/>
                <a:cs typeface="Arial"/>
                <a:sym typeface="Arial"/>
              </a:rPr>
              <a:t>Signals</a:t>
            </a:r>
            <a:endParaRPr sz="6200">
              <a:solidFill>
                <a:schemeClr val="dk1"/>
              </a:solidFill>
              <a:latin typeface="Calibri"/>
              <a:ea typeface="Calibri"/>
              <a:cs typeface="Calibri"/>
              <a:sym typeface="Calibri"/>
            </a:endParaRPr>
          </a:p>
        </p:txBody>
      </p:sp>
      <p:sp>
        <p:nvSpPr>
          <p:cNvPr id="17" name="Google Shape;17;p1"/>
          <p:cNvSpPr txBox="1"/>
          <p:nvPr/>
        </p:nvSpPr>
        <p:spPr>
          <a:xfrm>
            <a:off x="640080" y="3611880"/>
            <a:ext cx="49377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lang="en-US" sz="2100">
                <a:solidFill>
                  <a:srgbClr val="FFFFFF"/>
                </a:solidFill>
                <a:latin typeface="Calibri"/>
                <a:ea typeface="Calibri"/>
                <a:cs typeface="Calibri"/>
                <a:sym typeface="Calibri"/>
              </a:rPr>
              <a:t>Discover New Jersey’s next wave of startups.</a:t>
            </a:r>
            <a:endParaRPr sz="2100">
              <a:solidFill>
                <a:schemeClr val="dk1"/>
              </a:solidFill>
              <a:latin typeface="Calibri"/>
              <a:ea typeface="Calibri"/>
              <a:cs typeface="Calibri"/>
              <a:sym typeface="Calibri"/>
            </a:endParaRPr>
          </a:p>
        </p:txBody>
      </p:sp>
      <p:sp>
        <p:nvSpPr>
          <p:cNvPr id="18" name="Google Shape;18;p1"/>
          <p:cNvSpPr txBox="1"/>
          <p:nvPr/>
        </p:nvSpPr>
        <p:spPr>
          <a:xfrm>
            <a:off x="640080" y="4315968"/>
            <a:ext cx="49377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E0CF"/>
              </a:buClr>
              <a:buSzPts val="1500"/>
              <a:buFont typeface="Calibri"/>
              <a:buNone/>
            </a:pPr>
            <a:r>
              <a:rPr lang="en-US" sz="1500">
                <a:solidFill>
                  <a:srgbClr val="C9E0CF"/>
                </a:solidFill>
                <a:latin typeface="Calibri"/>
                <a:ea typeface="Calibri"/>
                <a:cs typeface="Calibri"/>
                <a:sym typeface="Calibri"/>
              </a:rPr>
              <a:t>A map and ranked view of early momentum.</a:t>
            </a:r>
            <a:endParaRPr sz="1500">
              <a:solidFill>
                <a:schemeClr val="dk1"/>
              </a:solidFill>
              <a:latin typeface="Calibri"/>
              <a:ea typeface="Calibri"/>
              <a:cs typeface="Calibri"/>
              <a:sym typeface="Calibri"/>
            </a:endParaRPr>
          </a:p>
        </p:txBody>
      </p:sp>
      <p:sp>
        <p:nvSpPr>
          <p:cNvPr id="19" name="Google Shape;19;p1"/>
          <p:cNvSpPr txBox="1"/>
          <p:nvPr/>
        </p:nvSpPr>
        <p:spPr>
          <a:xfrm>
            <a:off x="640080" y="4937760"/>
            <a:ext cx="2743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DB5"/>
              </a:buClr>
              <a:buSzPts val="1100"/>
              <a:buFont typeface="Calibri"/>
              <a:buNone/>
            </a:pPr>
            <a:r>
              <a:rPr b="1" lang="en-US" sz="1600">
                <a:solidFill>
                  <a:srgbClr val="A8DDB5"/>
                </a:solidFill>
                <a:latin typeface="Calibri"/>
                <a:ea typeface="Calibri"/>
                <a:cs typeface="Calibri"/>
                <a:sym typeface="Calibri"/>
              </a:rPr>
              <a:t>Mighty Ducks</a:t>
            </a:r>
            <a:endParaRPr sz="1600">
              <a:solidFill>
                <a:schemeClr val="dk1"/>
              </a:solidFill>
              <a:latin typeface="Calibri"/>
              <a:ea typeface="Calibri"/>
              <a:cs typeface="Calibri"/>
              <a:sym typeface="Calibri"/>
            </a:endParaRPr>
          </a:p>
        </p:txBody>
      </p:sp>
      <p:sp>
        <p:nvSpPr>
          <p:cNvPr id="20" name="Google Shape;20;p1"/>
          <p:cNvSpPr/>
          <p:nvPr/>
        </p:nvSpPr>
        <p:spPr>
          <a:xfrm>
            <a:off x="640080" y="5349240"/>
            <a:ext cx="128016" cy="128016"/>
          </a:xfrm>
          <a:prstGeom prst="ellipse">
            <a:avLst/>
          </a:prstGeom>
          <a:solidFill>
            <a:srgbClr val="A8DD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1"/>
          <p:cNvSpPr txBox="1"/>
          <p:nvPr/>
        </p:nvSpPr>
        <p:spPr>
          <a:xfrm>
            <a:off x="896112" y="5257800"/>
            <a:ext cx="2194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Phil Rodriguez</a:t>
            </a:r>
            <a:endParaRPr sz="1500">
              <a:solidFill>
                <a:schemeClr val="dk1"/>
              </a:solidFill>
              <a:latin typeface="Calibri"/>
              <a:ea typeface="Calibri"/>
              <a:cs typeface="Calibri"/>
              <a:sym typeface="Calibri"/>
            </a:endParaRPr>
          </a:p>
        </p:txBody>
      </p:sp>
      <p:sp>
        <p:nvSpPr>
          <p:cNvPr id="22" name="Google Shape;22;p1"/>
          <p:cNvSpPr/>
          <p:nvPr/>
        </p:nvSpPr>
        <p:spPr>
          <a:xfrm>
            <a:off x="3108960" y="5349240"/>
            <a:ext cx="128016" cy="128016"/>
          </a:xfrm>
          <a:prstGeom prst="ellipse">
            <a:avLst/>
          </a:prstGeom>
          <a:solidFill>
            <a:srgbClr val="A8DD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1"/>
          <p:cNvSpPr txBox="1"/>
          <p:nvPr/>
        </p:nvSpPr>
        <p:spPr>
          <a:xfrm>
            <a:off x="3364992" y="5257800"/>
            <a:ext cx="2194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YiChin Ho</a:t>
            </a:r>
            <a:endParaRPr sz="1500">
              <a:solidFill>
                <a:schemeClr val="dk1"/>
              </a:solidFill>
              <a:latin typeface="Calibri"/>
              <a:ea typeface="Calibri"/>
              <a:cs typeface="Calibri"/>
              <a:sym typeface="Calibri"/>
            </a:endParaRPr>
          </a:p>
        </p:txBody>
      </p:sp>
      <p:sp>
        <p:nvSpPr>
          <p:cNvPr id="24" name="Google Shape;24;p1"/>
          <p:cNvSpPr/>
          <p:nvPr/>
        </p:nvSpPr>
        <p:spPr>
          <a:xfrm>
            <a:off x="640080" y="5760720"/>
            <a:ext cx="128016" cy="128016"/>
          </a:xfrm>
          <a:prstGeom prst="ellipse">
            <a:avLst/>
          </a:prstGeom>
          <a:solidFill>
            <a:srgbClr val="A8DD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1"/>
          <p:cNvSpPr txBox="1"/>
          <p:nvPr/>
        </p:nvSpPr>
        <p:spPr>
          <a:xfrm>
            <a:off x="896112" y="5669280"/>
            <a:ext cx="2194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Luke Daniel</a:t>
            </a:r>
            <a:endParaRPr sz="1500">
              <a:solidFill>
                <a:schemeClr val="dk1"/>
              </a:solidFill>
              <a:latin typeface="Calibri"/>
              <a:ea typeface="Calibri"/>
              <a:cs typeface="Calibri"/>
              <a:sym typeface="Calibri"/>
            </a:endParaRPr>
          </a:p>
        </p:txBody>
      </p:sp>
      <p:sp>
        <p:nvSpPr>
          <p:cNvPr id="26" name="Google Shape;26;p1"/>
          <p:cNvSpPr/>
          <p:nvPr/>
        </p:nvSpPr>
        <p:spPr>
          <a:xfrm>
            <a:off x="3108960" y="5760720"/>
            <a:ext cx="128016" cy="128016"/>
          </a:xfrm>
          <a:prstGeom prst="ellipse">
            <a:avLst/>
          </a:prstGeom>
          <a:solidFill>
            <a:srgbClr val="A8DD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1"/>
          <p:cNvSpPr txBox="1"/>
          <p:nvPr/>
        </p:nvSpPr>
        <p:spPr>
          <a:xfrm>
            <a:off x="3364992" y="5669280"/>
            <a:ext cx="2194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Tewan Pothibutt</a:t>
            </a:r>
            <a:endParaRPr sz="1500">
              <a:solidFill>
                <a:schemeClr val="dk1"/>
              </a:solidFill>
              <a:latin typeface="Calibri"/>
              <a:ea typeface="Calibri"/>
              <a:cs typeface="Calibri"/>
              <a:sym typeface="Calibri"/>
            </a:endParaRPr>
          </a:p>
        </p:txBody>
      </p:sp>
      <p:sp>
        <p:nvSpPr>
          <p:cNvPr id="28" name="Google Shape;28;p1"/>
          <p:cNvSpPr/>
          <p:nvPr/>
        </p:nvSpPr>
        <p:spPr>
          <a:xfrm>
            <a:off x="6099048" y="1389888"/>
            <a:ext cx="5907024" cy="3706700"/>
          </a:xfrm>
          <a:prstGeom prst="roundRect">
            <a:avLst>
              <a:gd fmla="val 2960"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appcrop.png" id="29" name="Google Shape;29;p1"/>
          <p:cNvPicPr preferRelativeResize="0"/>
          <p:nvPr/>
        </p:nvPicPr>
        <p:blipFill rotWithShape="1">
          <a:blip r:embed="rId4">
            <a:alphaModFix/>
          </a:blip>
          <a:srcRect b="0" l="0" r="0" t="0"/>
          <a:stretch/>
        </p:blipFill>
        <p:spPr>
          <a:xfrm>
            <a:off x="6172200" y="1463040"/>
            <a:ext cx="5760720" cy="3560396"/>
          </a:xfrm>
          <a:prstGeom prst="rect">
            <a:avLst/>
          </a:prstGeom>
          <a:noFill/>
          <a:ln>
            <a:noFill/>
          </a:ln>
        </p:spPr>
      </p:pic>
      <p:sp>
        <p:nvSpPr>
          <p:cNvPr id="30" name="Google Shape;30;p1"/>
          <p:cNvSpPr/>
          <p:nvPr/>
        </p:nvSpPr>
        <p:spPr>
          <a:xfrm>
            <a:off x="6172200" y="5297756"/>
            <a:ext cx="2468880" cy="310896"/>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1"/>
          <p:cNvSpPr txBox="1"/>
          <p:nvPr/>
        </p:nvSpPr>
        <p:spPr>
          <a:xfrm>
            <a:off x="6172200" y="5297756"/>
            <a:ext cx="24688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050"/>
              <a:buFont typeface="Calibri"/>
              <a:buNone/>
            </a:pPr>
            <a:r>
              <a:rPr b="1" lang="en-US" sz="1050">
                <a:solidFill>
                  <a:srgbClr val="29593E"/>
                </a:solidFill>
                <a:latin typeface="Calibri"/>
                <a:ea typeface="Calibri"/>
                <a:cs typeface="Calibri"/>
                <a:sym typeface="Calibri"/>
              </a:rPr>
              <a:t>Concept preview · Sample data</a:t>
            </a:r>
            <a:endParaRPr sz="10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1"/>
        </a:solidFill>
      </p:bgPr>
    </p:bg>
    <p:spTree>
      <p:nvGrpSpPr>
        <p:cNvPr id="36" name="Shape 36"/>
        <p:cNvGrpSpPr/>
        <p:nvPr/>
      </p:nvGrpSpPr>
      <p:grpSpPr>
        <a:xfrm>
          <a:off x="0" y="0"/>
          <a:ext cx="0" cy="0"/>
          <a:chOff x="0" y="0"/>
          <a:chExt cx="0" cy="0"/>
        </a:xfrm>
      </p:grpSpPr>
      <p:sp>
        <p:nvSpPr>
          <p:cNvPr id="37" name="Google Shape;37;p2"/>
          <p:cNvSpPr/>
          <p:nvPr/>
        </p:nvSpPr>
        <p:spPr>
          <a:xfrm>
            <a:off x="548640" y="365760"/>
            <a:ext cx="1367028" cy="329184"/>
          </a:xfrm>
          <a:prstGeom prst="roundRect">
            <a:avLst>
              <a:gd fmla="val 50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2"/>
          <p:cNvSpPr txBox="1"/>
          <p:nvPr/>
        </p:nvSpPr>
        <p:spPr>
          <a:xfrm>
            <a:off x="548640" y="365760"/>
            <a:ext cx="136702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The problem</a:t>
            </a:r>
            <a:endParaRPr sz="1100">
              <a:solidFill>
                <a:schemeClr val="dk1"/>
              </a:solidFill>
              <a:latin typeface="Calibri"/>
              <a:ea typeface="Calibri"/>
              <a:cs typeface="Calibri"/>
              <a:sym typeface="Calibri"/>
            </a:endParaRPr>
          </a:p>
        </p:txBody>
      </p:sp>
      <p:sp>
        <p:nvSpPr>
          <p:cNvPr id="39" name="Google Shape;39;p2"/>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200"/>
              <a:buFont typeface="Calibri"/>
              <a:buNone/>
            </a:pPr>
            <a:r>
              <a:rPr b="1" lang="en-US" sz="1200">
                <a:solidFill>
                  <a:srgbClr val="5E6B63"/>
                </a:solidFill>
                <a:latin typeface="Calibri"/>
                <a:ea typeface="Calibri"/>
                <a:cs typeface="Calibri"/>
                <a:sym typeface="Calibri"/>
              </a:rPr>
              <a:t>02</a:t>
            </a:r>
            <a:endParaRPr sz="1200">
              <a:solidFill>
                <a:schemeClr val="dk1"/>
              </a:solidFill>
              <a:latin typeface="Calibri"/>
              <a:ea typeface="Calibri"/>
              <a:cs typeface="Calibri"/>
              <a:sym typeface="Calibri"/>
            </a:endParaRPr>
          </a:p>
        </p:txBody>
      </p:sp>
      <p:sp>
        <p:nvSpPr>
          <p:cNvPr id="40" name="Google Shape;40;p2"/>
          <p:cNvSpPr txBox="1"/>
          <p:nvPr/>
        </p:nvSpPr>
        <p:spPr>
          <a:xfrm>
            <a:off x="548640" y="868680"/>
            <a:ext cx="51206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3600"/>
              <a:buFont typeface="Arial"/>
              <a:buNone/>
            </a:pPr>
            <a:r>
              <a:rPr b="1" lang="en-US" sz="3600">
                <a:solidFill>
                  <a:srgbClr val="17261D"/>
                </a:solidFill>
                <a:latin typeface="Arial"/>
                <a:ea typeface="Arial"/>
                <a:cs typeface="Arial"/>
                <a:sym typeface="Arial"/>
              </a:rPr>
              <a:t>Promising startups are</a:t>
            </a:r>
            <a:endParaRPr sz="3600">
              <a:solidFill>
                <a:schemeClr val="dk1"/>
              </a:solidFill>
              <a:latin typeface="Calibri"/>
              <a:ea typeface="Calibri"/>
              <a:cs typeface="Calibri"/>
              <a:sym typeface="Calibri"/>
            </a:endParaRPr>
          </a:p>
          <a:p>
            <a:pPr indent="0" lvl="0" marL="0" marR="0" rtl="0" algn="l">
              <a:spcBef>
                <a:spcPts val="0"/>
              </a:spcBef>
              <a:spcAft>
                <a:spcPts val="0"/>
              </a:spcAft>
              <a:buClr>
                <a:srgbClr val="17261D"/>
              </a:buClr>
              <a:buSzPts val="3600"/>
              <a:buFont typeface="Arial"/>
              <a:buNone/>
            </a:pPr>
            <a:r>
              <a:rPr b="1" lang="en-US" sz="3600">
                <a:solidFill>
                  <a:srgbClr val="17261D"/>
                </a:solidFill>
                <a:latin typeface="Arial"/>
                <a:ea typeface="Arial"/>
                <a:cs typeface="Arial"/>
                <a:sym typeface="Arial"/>
              </a:rPr>
              <a:t>hard to spot early.</a:t>
            </a:r>
            <a:endParaRPr sz="3600">
              <a:solidFill>
                <a:schemeClr val="dk1"/>
              </a:solidFill>
              <a:latin typeface="Calibri"/>
              <a:ea typeface="Calibri"/>
              <a:cs typeface="Calibri"/>
              <a:sym typeface="Calibri"/>
            </a:endParaRPr>
          </a:p>
        </p:txBody>
      </p:sp>
      <p:sp>
        <p:nvSpPr>
          <p:cNvPr id="41" name="Google Shape;41;p2"/>
          <p:cNvSpPr txBox="1"/>
          <p:nvPr/>
        </p:nvSpPr>
        <p:spPr>
          <a:xfrm>
            <a:off x="548640" y="2743200"/>
            <a:ext cx="47548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2000"/>
              <a:buFont typeface="Calibri"/>
              <a:buNone/>
            </a:pPr>
            <a:r>
              <a:rPr b="1" lang="en-US" sz="2000">
                <a:solidFill>
                  <a:srgbClr val="17261D"/>
                </a:solidFill>
                <a:latin typeface="Calibri"/>
                <a:ea typeface="Calibri"/>
                <a:cs typeface="Calibri"/>
                <a:sym typeface="Calibri"/>
              </a:rPr>
              <a:t>Finding the signals still means searching across sources.</a:t>
            </a:r>
            <a:endParaRPr sz="2000">
              <a:solidFill>
                <a:schemeClr val="dk1"/>
              </a:solidFill>
              <a:latin typeface="Calibri"/>
              <a:ea typeface="Calibri"/>
              <a:cs typeface="Calibri"/>
              <a:sym typeface="Calibri"/>
            </a:endParaRPr>
          </a:p>
        </p:txBody>
      </p:sp>
      <p:sp>
        <p:nvSpPr>
          <p:cNvPr id="42" name="Google Shape;42;p2"/>
          <p:cNvSpPr txBox="1"/>
          <p:nvPr/>
        </p:nvSpPr>
        <p:spPr>
          <a:xfrm>
            <a:off x="548640" y="3657600"/>
            <a:ext cx="45720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600"/>
              <a:buFont typeface="Calibri"/>
              <a:buNone/>
            </a:pPr>
            <a:r>
              <a:rPr lang="en-US" sz="1600">
                <a:solidFill>
                  <a:srgbClr val="5E6B63"/>
                </a:solidFill>
                <a:latin typeface="Calibri"/>
                <a:ea typeface="Calibri"/>
                <a:cs typeface="Calibri"/>
                <a:sym typeface="Calibri"/>
              </a:rPr>
              <a:t>That makes it harder to see which companies and sectors are gaining traction.</a:t>
            </a:r>
            <a:endParaRPr sz="1600">
              <a:solidFill>
                <a:schemeClr val="dk1"/>
              </a:solidFill>
              <a:latin typeface="Calibri"/>
              <a:ea typeface="Calibri"/>
              <a:cs typeface="Calibri"/>
              <a:sym typeface="Calibri"/>
            </a:endParaRPr>
          </a:p>
        </p:txBody>
      </p:sp>
      <p:sp>
        <p:nvSpPr>
          <p:cNvPr id="43" name="Google Shape;43;p2"/>
          <p:cNvSpPr txBox="1"/>
          <p:nvPr/>
        </p:nvSpPr>
        <p:spPr>
          <a:xfrm>
            <a:off x="548640" y="4754880"/>
            <a:ext cx="8229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9593E"/>
              </a:buClr>
              <a:buSzPts val="8000"/>
              <a:buFont typeface="Arial"/>
              <a:buNone/>
            </a:pPr>
            <a:r>
              <a:rPr b="1" lang="en-US" sz="8000">
                <a:solidFill>
                  <a:srgbClr val="29593E"/>
                </a:solidFill>
                <a:latin typeface="Arial"/>
                <a:ea typeface="Arial"/>
                <a:cs typeface="Arial"/>
                <a:sym typeface="Arial"/>
              </a:rPr>
              <a:t>6</a:t>
            </a:r>
            <a:endParaRPr sz="8000">
              <a:solidFill>
                <a:schemeClr val="dk1"/>
              </a:solidFill>
              <a:latin typeface="Calibri"/>
              <a:ea typeface="Calibri"/>
              <a:cs typeface="Calibri"/>
              <a:sym typeface="Calibri"/>
            </a:endParaRPr>
          </a:p>
        </p:txBody>
      </p:sp>
      <p:sp>
        <p:nvSpPr>
          <p:cNvPr id="44" name="Google Shape;44;p2"/>
          <p:cNvSpPr txBox="1"/>
          <p:nvPr/>
        </p:nvSpPr>
        <p:spPr>
          <a:xfrm>
            <a:off x="1417320" y="4983480"/>
            <a:ext cx="3657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500"/>
              <a:buFont typeface="Calibri"/>
              <a:buNone/>
            </a:pPr>
            <a:r>
              <a:rPr lang="en-US" sz="1500">
                <a:solidFill>
                  <a:srgbClr val="5E6B63"/>
                </a:solidFill>
                <a:latin typeface="Calibri"/>
                <a:ea typeface="Calibri"/>
                <a:cs typeface="Calibri"/>
                <a:sym typeface="Calibri"/>
              </a:rPr>
              <a:t>separate places to look</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5E6B63"/>
              </a:buClr>
              <a:buSzPts val="1500"/>
              <a:buFont typeface="Calibri"/>
              <a:buNone/>
            </a:pPr>
            <a:r>
              <a:rPr lang="en-US" sz="1500">
                <a:solidFill>
                  <a:srgbClr val="5E6B63"/>
                </a:solidFill>
                <a:latin typeface="Calibri"/>
                <a:ea typeface="Calibri"/>
                <a:cs typeface="Calibri"/>
                <a:sym typeface="Calibri"/>
              </a:rPr>
              <a:t>before evaluation can begin</a:t>
            </a:r>
            <a:endParaRPr sz="1500">
              <a:solidFill>
                <a:schemeClr val="dk1"/>
              </a:solidFill>
              <a:latin typeface="Calibri"/>
              <a:ea typeface="Calibri"/>
              <a:cs typeface="Calibri"/>
              <a:sym typeface="Calibri"/>
            </a:endParaRPr>
          </a:p>
        </p:txBody>
      </p:sp>
      <p:sp>
        <p:nvSpPr>
          <p:cNvPr id="45" name="Google Shape;45;p2"/>
          <p:cNvSpPr/>
          <p:nvPr/>
        </p:nvSpPr>
        <p:spPr>
          <a:xfrm>
            <a:off x="5669280" y="777240"/>
            <a:ext cx="5989320" cy="5349240"/>
          </a:xfrm>
          <a:prstGeom prst="roundRect">
            <a:avLst>
              <a:gd fmla="val 5128"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2"/>
          <p:cNvSpPr/>
          <p:nvPr/>
        </p:nvSpPr>
        <p:spPr>
          <a:xfrm>
            <a:off x="6035040" y="1097280"/>
            <a:ext cx="2331720" cy="777240"/>
          </a:xfrm>
          <a:prstGeom prst="roundRect">
            <a:avLst>
              <a:gd fmla="val 49412"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7" name="Google Shape;47;p2"/>
          <p:cNvPicPr preferRelativeResize="0"/>
          <p:nvPr/>
        </p:nvPicPr>
        <p:blipFill rotWithShape="1">
          <a:blip r:embed="rId3">
            <a:alphaModFix/>
          </a:blip>
          <a:srcRect b="0" l="0" r="0" t="0"/>
          <a:stretch/>
        </p:blipFill>
        <p:spPr>
          <a:xfrm>
            <a:off x="6263640" y="1289304"/>
            <a:ext cx="393192" cy="393192"/>
          </a:xfrm>
          <a:prstGeom prst="rect">
            <a:avLst/>
          </a:prstGeom>
          <a:noFill/>
          <a:ln>
            <a:noFill/>
          </a:ln>
        </p:spPr>
      </p:pic>
      <p:sp>
        <p:nvSpPr>
          <p:cNvPr id="48" name="Google Shape;48;p2"/>
          <p:cNvSpPr txBox="1"/>
          <p:nvPr/>
        </p:nvSpPr>
        <p:spPr>
          <a:xfrm>
            <a:off x="6812280" y="1097280"/>
            <a:ext cx="1508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500"/>
              <a:buFont typeface="Calibri"/>
              <a:buNone/>
            </a:pPr>
            <a:r>
              <a:rPr b="1" lang="en-US" sz="1500">
                <a:solidFill>
                  <a:srgbClr val="17261D"/>
                </a:solidFill>
                <a:latin typeface="Calibri"/>
                <a:ea typeface="Calibri"/>
                <a:cs typeface="Calibri"/>
                <a:sym typeface="Calibri"/>
              </a:rPr>
              <a:t>Funding</a:t>
            </a:r>
            <a:endParaRPr sz="1500">
              <a:solidFill>
                <a:schemeClr val="dk1"/>
              </a:solidFill>
              <a:latin typeface="Calibri"/>
              <a:ea typeface="Calibri"/>
              <a:cs typeface="Calibri"/>
              <a:sym typeface="Calibri"/>
            </a:endParaRPr>
          </a:p>
        </p:txBody>
      </p:sp>
      <p:sp>
        <p:nvSpPr>
          <p:cNvPr id="49" name="Google Shape;49;p2"/>
          <p:cNvSpPr/>
          <p:nvPr/>
        </p:nvSpPr>
        <p:spPr>
          <a:xfrm>
            <a:off x="8869680" y="914400"/>
            <a:ext cx="2331720" cy="777240"/>
          </a:xfrm>
          <a:prstGeom prst="roundRect">
            <a:avLst>
              <a:gd fmla="val 49412"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0" name="Google Shape;50;p2"/>
          <p:cNvPicPr preferRelativeResize="0"/>
          <p:nvPr/>
        </p:nvPicPr>
        <p:blipFill rotWithShape="1">
          <a:blip r:embed="rId4">
            <a:alphaModFix/>
          </a:blip>
          <a:srcRect b="0" l="0" r="0" t="0"/>
          <a:stretch/>
        </p:blipFill>
        <p:spPr>
          <a:xfrm>
            <a:off x="9098280" y="1106424"/>
            <a:ext cx="393192" cy="393192"/>
          </a:xfrm>
          <a:prstGeom prst="rect">
            <a:avLst/>
          </a:prstGeom>
          <a:noFill/>
          <a:ln>
            <a:noFill/>
          </a:ln>
        </p:spPr>
      </p:pic>
      <p:sp>
        <p:nvSpPr>
          <p:cNvPr id="51" name="Google Shape;51;p2"/>
          <p:cNvSpPr txBox="1"/>
          <p:nvPr/>
        </p:nvSpPr>
        <p:spPr>
          <a:xfrm>
            <a:off x="9646920" y="914400"/>
            <a:ext cx="1508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500"/>
              <a:buFont typeface="Calibri"/>
              <a:buNone/>
            </a:pPr>
            <a:r>
              <a:rPr b="1" lang="en-US" sz="1500">
                <a:solidFill>
                  <a:srgbClr val="17261D"/>
                </a:solidFill>
                <a:latin typeface="Calibri"/>
                <a:ea typeface="Calibri"/>
                <a:cs typeface="Calibri"/>
                <a:sym typeface="Calibri"/>
              </a:rPr>
              <a:t>Grants</a:t>
            </a:r>
            <a:endParaRPr sz="1500">
              <a:solidFill>
                <a:schemeClr val="dk1"/>
              </a:solidFill>
              <a:latin typeface="Calibri"/>
              <a:ea typeface="Calibri"/>
              <a:cs typeface="Calibri"/>
              <a:sym typeface="Calibri"/>
            </a:endParaRPr>
          </a:p>
        </p:txBody>
      </p:sp>
      <p:sp>
        <p:nvSpPr>
          <p:cNvPr id="52" name="Google Shape;52;p2"/>
          <p:cNvSpPr/>
          <p:nvPr/>
        </p:nvSpPr>
        <p:spPr>
          <a:xfrm>
            <a:off x="6675120" y="2651760"/>
            <a:ext cx="2331720" cy="777240"/>
          </a:xfrm>
          <a:prstGeom prst="roundRect">
            <a:avLst>
              <a:gd fmla="val 49412"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3" name="Google Shape;53;p2"/>
          <p:cNvPicPr preferRelativeResize="0"/>
          <p:nvPr/>
        </p:nvPicPr>
        <p:blipFill rotWithShape="1">
          <a:blip r:embed="rId5">
            <a:alphaModFix/>
          </a:blip>
          <a:srcRect b="0" l="0" r="0" t="0"/>
          <a:stretch/>
        </p:blipFill>
        <p:spPr>
          <a:xfrm>
            <a:off x="6903720" y="2843784"/>
            <a:ext cx="393192" cy="393192"/>
          </a:xfrm>
          <a:prstGeom prst="rect">
            <a:avLst/>
          </a:prstGeom>
          <a:noFill/>
          <a:ln>
            <a:noFill/>
          </a:ln>
        </p:spPr>
      </p:pic>
      <p:sp>
        <p:nvSpPr>
          <p:cNvPr id="54" name="Google Shape;54;p2"/>
          <p:cNvSpPr txBox="1"/>
          <p:nvPr/>
        </p:nvSpPr>
        <p:spPr>
          <a:xfrm>
            <a:off x="7452360" y="2651760"/>
            <a:ext cx="1508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500"/>
              <a:buFont typeface="Calibri"/>
              <a:buNone/>
            </a:pPr>
            <a:r>
              <a:rPr b="1" lang="en-US" sz="1500">
                <a:solidFill>
                  <a:srgbClr val="17261D"/>
                </a:solidFill>
                <a:latin typeface="Calibri"/>
                <a:ea typeface="Calibri"/>
                <a:cs typeface="Calibri"/>
                <a:sym typeface="Calibri"/>
              </a:rPr>
              <a:t>Hiring</a:t>
            </a:r>
            <a:endParaRPr sz="1500">
              <a:solidFill>
                <a:schemeClr val="dk1"/>
              </a:solidFill>
              <a:latin typeface="Calibri"/>
              <a:ea typeface="Calibri"/>
              <a:cs typeface="Calibri"/>
              <a:sym typeface="Calibri"/>
            </a:endParaRPr>
          </a:p>
        </p:txBody>
      </p:sp>
      <p:sp>
        <p:nvSpPr>
          <p:cNvPr id="55" name="Google Shape;55;p2"/>
          <p:cNvSpPr/>
          <p:nvPr/>
        </p:nvSpPr>
        <p:spPr>
          <a:xfrm>
            <a:off x="9052560" y="2514600"/>
            <a:ext cx="2331720" cy="777240"/>
          </a:xfrm>
          <a:prstGeom prst="roundRect">
            <a:avLst>
              <a:gd fmla="val 49412"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6" name="Google Shape;56;p2"/>
          <p:cNvPicPr preferRelativeResize="0"/>
          <p:nvPr/>
        </p:nvPicPr>
        <p:blipFill rotWithShape="1">
          <a:blip r:embed="rId6">
            <a:alphaModFix/>
          </a:blip>
          <a:srcRect b="0" l="0" r="0" t="0"/>
          <a:stretch/>
        </p:blipFill>
        <p:spPr>
          <a:xfrm>
            <a:off x="9281160" y="2706624"/>
            <a:ext cx="393192" cy="393192"/>
          </a:xfrm>
          <a:prstGeom prst="rect">
            <a:avLst/>
          </a:prstGeom>
          <a:noFill/>
          <a:ln>
            <a:noFill/>
          </a:ln>
        </p:spPr>
      </p:pic>
      <p:sp>
        <p:nvSpPr>
          <p:cNvPr id="57" name="Google Shape;57;p2"/>
          <p:cNvSpPr txBox="1"/>
          <p:nvPr/>
        </p:nvSpPr>
        <p:spPr>
          <a:xfrm>
            <a:off x="9829800" y="2514600"/>
            <a:ext cx="1508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500"/>
              <a:buFont typeface="Calibri"/>
              <a:buNone/>
            </a:pPr>
            <a:r>
              <a:rPr b="1" lang="en-US" sz="1500">
                <a:solidFill>
                  <a:srgbClr val="17261D"/>
                </a:solidFill>
                <a:latin typeface="Calibri"/>
                <a:ea typeface="Calibri"/>
                <a:cs typeface="Calibri"/>
                <a:sym typeface="Calibri"/>
              </a:rPr>
              <a:t>IP filings</a:t>
            </a:r>
            <a:endParaRPr sz="1500">
              <a:solidFill>
                <a:schemeClr val="dk1"/>
              </a:solidFill>
              <a:latin typeface="Calibri"/>
              <a:ea typeface="Calibri"/>
              <a:cs typeface="Calibri"/>
              <a:sym typeface="Calibri"/>
            </a:endParaRPr>
          </a:p>
        </p:txBody>
      </p:sp>
      <p:sp>
        <p:nvSpPr>
          <p:cNvPr id="58" name="Google Shape;58;p2"/>
          <p:cNvSpPr/>
          <p:nvPr/>
        </p:nvSpPr>
        <p:spPr>
          <a:xfrm>
            <a:off x="6126480" y="4297680"/>
            <a:ext cx="2331720" cy="777240"/>
          </a:xfrm>
          <a:prstGeom prst="roundRect">
            <a:avLst>
              <a:gd fmla="val 49412"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9" name="Google Shape;59;p2"/>
          <p:cNvPicPr preferRelativeResize="0"/>
          <p:nvPr/>
        </p:nvPicPr>
        <p:blipFill rotWithShape="1">
          <a:blip r:embed="rId7">
            <a:alphaModFix/>
          </a:blip>
          <a:srcRect b="0" l="0" r="0" t="0"/>
          <a:stretch/>
        </p:blipFill>
        <p:spPr>
          <a:xfrm>
            <a:off x="6355080" y="4489704"/>
            <a:ext cx="393192" cy="393192"/>
          </a:xfrm>
          <a:prstGeom prst="rect">
            <a:avLst/>
          </a:prstGeom>
          <a:noFill/>
          <a:ln>
            <a:noFill/>
          </a:ln>
        </p:spPr>
      </p:pic>
      <p:sp>
        <p:nvSpPr>
          <p:cNvPr id="60" name="Google Shape;60;p2"/>
          <p:cNvSpPr txBox="1"/>
          <p:nvPr/>
        </p:nvSpPr>
        <p:spPr>
          <a:xfrm>
            <a:off x="6903720" y="4297680"/>
            <a:ext cx="1508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500"/>
              <a:buFont typeface="Calibri"/>
              <a:buNone/>
            </a:pPr>
            <a:r>
              <a:rPr b="1" lang="en-US" sz="1500">
                <a:solidFill>
                  <a:srgbClr val="17261D"/>
                </a:solidFill>
                <a:latin typeface="Calibri"/>
                <a:ea typeface="Calibri"/>
                <a:cs typeface="Calibri"/>
                <a:sym typeface="Calibri"/>
              </a:rPr>
              <a:t>Accelerators</a:t>
            </a:r>
            <a:endParaRPr sz="1500">
              <a:solidFill>
                <a:schemeClr val="dk1"/>
              </a:solidFill>
              <a:latin typeface="Calibri"/>
              <a:ea typeface="Calibri"/>
              <a:cs typeface="Calibri"/>
              <a:sym typeface="Calibri"/>
            </a:endParaRPr>
          </a:p>
        </p:txBody>
      </p:sp>
      <p:sp>
        <p:nvSpPr>
          <p:cNvPr id="61" name="Google Shape;61;p2"/>
          <p:cNvSpPr/>
          <p:nvPr/>
        </p:nvSpPr>
        <p:spPr>
          <a:xfrm>
            <a:off x="8778240" y="4160520"/>
            <a:ext cx="2331720" cy="777240"/>
          </a:xfrm>
          <a:prstGeom prst="roundRect">
            <a:avLst>
              <a:gd fmla="val 49412"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2" name="Google Shape;62;p2"/>
          <p:cNvPicPr preferRelativeResize="0"/>
          <p:nvPr/>
        </p:nvPicPr>
        <p:blipFill rotWithShape="1">
          <a:blip r:embed="rId8">
            <a:alphaModFix/>
          </a:blip>
          <a:srcRect b="0" l="0" r="0" t="0"/>
          <a:stretch/>
        </p:blipFill>
        <p:spPr>
          <a:xfrm>
            <a:off x="9006840" y="4352544"/>
            <a:ext cx="393192" cy="393192"/>
          </a:xfrm>
          <a:prstGeom prst="rect">
            <a:avLst/>
          </a:prstGeom>
          <a:noFill/>
          <a:ln>
            <a:noFill/>
          </a:ln>
        </p:spPr>
      </p:pic>
      <p:sp>
        <p:nvSpPr>
          <p:cNvPr id="63" name="Google Shape;63;p2"/>
          <p:cNvSpPr txBox="1"/>
          <p:nvPr/>
        </p:nvSpPr>
        <p:spPr>
          <a:xfrm>
            <a:off x="9555480" y="4160520"/>
            <a:ext cx="1508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500"/>
              <a:buFont typeface="Calibri"/>
              <a:buNone/>
            </a:pPr>
            <a:r>
              <a:rPr b="1" lang="en-US" sz="1500">
                <a:solidFill>
                  <a:srgbClr val="17261D"/>
                </a:solidFill>
                <a:latin typeface="Calibri"/>
                <a:ea typeface="Calibri"/>
                <a:cs typeface="Calibri"/>
                <a:sym typeface="Calibri"/>
              </a:rPr>
              <a:t>Public support</a:t>
            </a:r>
            <a:endParaRPr sz="1500">
              <a:solidFill>
                <a:schemeClr val="dk1"/>
              </a:solidFill>
              <a:latin typeface="Calibri"/>
              <a:ea typeface="Calibri"/>
              <a:cs typeface="Calibri"/>
              <a:sym typeface="Calibri"/>
            </a:endParaRPr>
          </a:p>
        </p:txBody>
      </p:sp>
      <p:sp>
        <p:nvSpPr>
          <p:cNvPr id="64" name="Google Shape;64;p2"/>
          <p:cNvSpPr txBox="1"/>
          <p:nvPr/>
        </p:nvSpPr>
        <p:spPr>
          <a:xfrm>
            <a:off x="6035040" y="5486400"/>
            <a:ext cx="5303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200"/>
              <a:buFont typeface="Calibri"/>
              <a:buNone/>
            </a:pPr>
            <a:r>
              <a:rPr i="1" lang="en-US" sz="1200">
                <a:solidFill>
                  <a:srgbClr val="5E6B63"/>
                </a:solidFill>
                <a:latin typeface="Calibri"/>
                <a:ea typeface="Calibri"/>
                <a:cs typeface="Calibri"/>
                <a:sym typeface="Calibri"/>
              </a:rPr>
              <a:t>Scattered across funding records, grant databases, job boards, IP registries and program listings</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1"/>
        </a:solidFill>
      </p:bgPr>
    </p:bg>
    <p:spTree>
      <p:nvGrpSpPr>
        <p:cNvPr id="69" name="Shape 69"/>
        <p:cNvGrpSpPr/>
        <p:nvPr/>
      </p:nvGrpSpPr>
      <p:grpSpPr>
        <a:xfrm>
          <a:off x="0" y="0"/>
          <a:ext cx="0" cy="0"/>
          <a:chOff x="0" y="0"/>
          <a:chExt cx="0" cy="0"/>
        </a:xfrm>
      </p:grpSpPr>
      <p:sp>
        <p:nvSpPr>
          <p:cNvPr id="70" name="Google Shape;70;p3"/>
          <p:cNvSpPr/>
          <p:nvPr/>
        </p:nvSpPr>
        <p:spPr>
          <a:xfrm>
            <a:off x="548640" y="365760"/>
            <a:ext cx="1888236" cy="329184"/>
          </a:xfrm>
          <a:prstGeom prst="roundRect">
            <a:avLst>
              <a:gd fmla="val 50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3"/>
          <p:cNvSpPr txBox="1"/>
          <p:nvPr/>
        </p:nvSpPr>
        <p:spPr>
          <a:xfrm>
            <a:off x="548640" y="365760"/>
            <a:ext cx="188823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Solution overview</a:t>
            </a:r>
            <a:endParaRPr sz="1100">
              <a:solidFill>
                <a:schemeClr val="dk1"/>
              </a:solidFill>
              <a:latin typeface="Calibri"/>
              <a:ea typeface="Calibri"/>
              <a:cs typeface="Calibri"/>
              <a:sym typeface="Calibri"/>
            </a:endParaRPr>
          </a:p>
        </p:txBody>
      </p:sp>
      <p:sp>
        <p:nvSpPr>
          <p:cNvPr id="72" name="Google Shape;72;p3"/>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200"/>
              <a:buFont typeface="Calibri"/>
              <a:buNone/>
            </a:pPr>
            <a:r>
              <a:rPr b="1" lang="en-US" sz="1200">
                <a:solidFill>
                  <a:srgbClr val="5E6B63"/>
                </a:solidFill>
                <a:latin typeface="Calibri"/>
                <a:ea typeface="Calibri"/>
                <a:cs typeface="Calibri"/>
                <a:sym typeface="Calibri"/>
              </a:rPr>
              <a:t>03</a:t>
            </a:r>
            <a:endParaRPr sz="1200">
              <a:solidFill>
                <a:schemeClr val="dk1"/>
              </a:solidFill>
              <a:latin typeface="Calibri"/>
              <a:ea typeface="Calibri"/>
              <a:cs typeface="Calibri"/>
              <a:sym typeface="Calibri"/>
            </a:endParaRPr>
          </a:p>
        </p:txBody>
      </p:sp>
      <p:sp>
        <p:nvSpPr>
          <p:cNvPr id="73" name="Google Shape;73;p3"/>
          <p:cNvSpPr txBox="1"/>
          <p:nvPr/>
        </p:nvSpPr>
        <p:spPr>
          <a:xfrm>
            <a:off x="548640" y="868680"/>
            <a:ext cx="64008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3600"/>
              <a:buFont typeface="Arial"/>
              <a:buNone/>
            </a:pPr>
            <a:r>
              <a:rPr b="1" lang="en-US" sz="3600">
                <a:solidFill>
                  <a:srgbClr val="17261D"/>
                </a:solidFill>
                <a:latin typeface="Arial"/>
                <a:ea typeface="Arial"/>
                <a:cs typeface="Arial"/>
                <a:sym typeface="Arial"/>
              </a:rPr>
              <a:t>A map of startups.</a:t>
            </a:r>
            <a:endParaRPr sz="3600">
              <a:solidFill>
                <a:schemeClr val="dk1"/>
              </a:solidFill>
              <a:latin typeface="Calibri"/>
              <a:ea typeface="Calibri"/>
              <a:cs typeface="Calibri"/>
              <a:sym typeface="Calibri"/>
            </a:endParaRPr>
          </a:p>
          <a:p>
            <a:pPr indent="0" lvl="0" marL="0" marR="0" rtl="0" algn="l">
              <a:spcBef>
                <a:spcPts val="0"/>
              </a:spcBef>
              <a:spcAft>
                <a:spcPts val="0"/>
              </a:spcAft>
              <a:buClr>
                <a:srgbClr val="17261D"/>
              </a:buClr>
              <a:buSzPts val="3600"/>
              <a:buFont typeface="Arial"/>
              <a:buNone/>
            </a:pPr>
            <a:r>
              <a:rPr b="1" lang="en-US" sz="3600">
                <a:solidFill>
                  <a:srgbClr val="17261D"/>
                </a:solidFill>
                <a:latin typeface="Arial"/>
                <a:ea typeface="Arial"/>
                <a:cs typeface="Arial"/>
                <a:sym typeface="Arial"/>
              </a:rPr>
              <a:t>A ranked view of momentum.</a:t>
            </a:r>
            <a:endParaRPr sz="3600">
              <a:solidFill>
                <a:schemeClr val="dk1"/>
              </a:solidFill>
              <a:latin typeface="Calibri"/>
              <a:ea typeface="Calibri"/>
              <a:cs typeface="Calibri"/>
              <a:sym typeface="Calibri"/>
            </a:endParaRPr>
          </a:p>
        </p:txBody>
      </p:sp>
      <p:sp>
        <p:nvSpPr>
          <p:cNvPr id="74" name="Google Shape;74;p3"/>
          <p:cNvSpPr/>
          <p:nvPr/>
        </p:nvSpPr>
        <p:spPr>
          <a:xfrm>
            <a:off x="548640" y="2514600"/>
            <a:ext cx="4023360" cy="3611880"/>
          </a:xfrm>
          <a:prstGeom prst="roundRect">
            <a:avLst>
              <a:gd fmla="val 6329" name="adj"/>
            </a:avLst>
          </a:prstGeom>
          <a:solidFill>
            <a:srgbClr val="1F4631"/>
          </a:solidFill>
          <a:ln>
            <a:noFill/>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3"/>
          <p:cNvSpPr txBox="1"/>
          <p:nvPr/>
        </p:nvSpPr>
        <p:spPr>
          <a:xfrm>
            <a:off x="868680" y="2834640"/>
            <a:ext cx="347472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Arial"/>
              <a:buNone/>
            </a:pPr>
            <a:r>
              <a:rPr b="1" lang="en-US" sz="6400">
                <a:solidFill>
                  <a:srgbClr val="FFFFFF"/>
                </a:solidFill>
                <a:latin typeface="Arial"/>
                <a:ea typeface="Arial"/>
                <a:cs typeface="Arial"/>
                <a:sym typeface="Arial"/>
              </a:rPr>
              <a:t>0–100</a:t>
            </a:r>
            <a:endParaRPr sz="6400">
              <a:solidFill>
                <a:schemeClr val="dk1"/>
              </a:solidFill>
              <a:latin typeface="Calibri"/>
              <a:ea typeface="Calibri"/>
              <a:cs typeface="Calibri"/>
              <a:sym typeface="Calibri"/>
            </a:endParaRPr>
          </a:p>
        </p:txBody>
      </p:sp>
      <p:sp>
        <p:nvSpPr>
          <p:cNvPr id="76" name="Google Shape;76;p3"/>
          <p:cNvSpPr txBox="1"/>
          <p:nvPr/>
        </p:nvSpPr>
        <p:spPr>
          <a:xfrm>
            <a:off x="868680" y="4114800"/>
            <a:ext cx="3474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DB5"/>
              </a:buClr>
              <a:buSzPts val="2400"/>
              <a:buFont typeface="Calibri"/>
              <a:buNone/>
            </a:pPr>
            <a:r>
              <a:rPr b="1" lang="en-US" sz="2400">
                <a:solidFill>
                  <a:srgbClr val="A8DDB5"/>
                </a:solidFill>
                <a:latin typeface="Calibri"/>
                <a:ea typeface="Calibri"/>
                <a:cs typeface="Calibri"/>
                <a:sym typeface="Calibri"/>
              </a:rPr>
              <a:t>Startup Score</a:t>
            </a:r>
            <a:endParaRPr sz="2400">
              <a:solidFill>
                <a:schemeClr val="dk1"/>
              </a:solidFill>
              <a:latin typeface="Calibri"/>
              <a:ea typeface="Calibri"/>
              <a:cs typeface="Calibri"/>
              <a:sym typeface="Calibri"/>
            </a:endParaRPr>
          </a:p>
        </p:txBody>
      </p:sp>
      <p:sp>
        <p:nvSpPr>
          <p:cNvPr id="77" name="Google Shape;77;p3"/>
          <p:cNvSpPr txBox="1"/>
          <p:nvPr/>
        </p:nvSpPr>
        <p:spPr>
          <a:xfrm>
            <a:off x="868680" y="4617720"/>
            <a:ext cx="3474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E0CF"/>
              </a:buClr>
              <a:buSzPts val="1500"/>
              <a:buFont typeface="Calibri"/>
              <a:buNone/>
            </a:pPr>
            <a:r>
              <a:rPr lang="en-US" sz="1500">
                <a:solidFill>
                  <a:srgbClr val="C9E0CF"/>
                </a:solidFill>
                <a:latin typeface="Calibri"/>
                <a:ea typeface="Calibri"/>
                <a:cs typeface="Calibri"/>
                <a:sym typeface="Calibri"/>
              </a:rPr>
              <a:t>Built from six types of ecosystem signals</a:t>
            </a:r>
            <a:endParaRPr sz="1500">
              <a:solidFill>
                <a:schemeClr val="dk1"/>
              </a:solidFill>
              <a:latin typeface="Calibri"/>
              <a:ea typeface="Calibri"/>
              <a:cs typeface="Calibri"/>
              <a:sym typeface="Calibri"/>
            </a:endParaRPr>
          </a:p>
        </p:txBody>
      </p:sp>
      <p:sp>
        <p:nvSpPr>
          <p:cNvPr id="78" name="Google Shape;78;p3"/>
          <p:cNvSpPr/>
          <p:nvPr/>
        </p:nvSpPr>
        <p:spPr>
          <a:xfrm>
            <a:off x="868680" y="5349240"/>
            <a:ext cx="987552" cy="146304"/>
          </a:xfrm>
          <a:prstGeom prst="rect">
            <a:avLst/>
          </a:prstGeom>
          <a:solidFill>
            <a:srgbClr val="5FB77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3"/>
          <p:cNvSpPr/>
          <p:nvPr/>
        </p:nvSpPr>
        <p:spPr>
          <a:xfrm>
            <a:off x="1883664" y="5349240"/>
            <a:ext cx="649224" cy="146304"/>
          </a:xfrm>
          <a:prstGeom prst="rect">
            <a:avLst/>
          </a:prstGeom>
          <a:solidFill>
            <a:srgbClr val="DEA54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3"/>
          <p:cNvSpPr/>
          <p:nvPr/>
        </p:nvSpPr>
        <p:spPr>
          <a:xfrm>
            <a:off x="2560320" y="5349240"/>
            <a:ext cx="649224" cy="146304"/>
          </a:xfrm>
          <a:prstGeom prst="rect">
            <a:avLst/>
          </a:prstGeom>
          <a:solidFill>
            <a:srgbClr val="4CA19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3"/>
          <p:cNvSpPr/>
          <p:nvPr/>
        </p:nvSpPr>
        <p:spPr>
          <a:xfrm>
            <a:off x="3236976" y="5349240"/>
            <a:ext cx="480060" cy="146304"/>
          </a:xfrm>
          <a:prstGeom prst="rect">
            <a:avLst/>
          </a:prstGeom>
          <a:solidFill>
            <a:srgbClr val="845EE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3"/>
          <p:cNvSpPr/>
          <p:nvPr/>
        </p:nvSpPr>
        <p:spPr>
          <a:xfrm>
            <a:off x="3744468" y="5349240"/>
            <a:ext cx="310896" cy="146304"/>
          </a:xfrm>
          <a:prstGeom prst="rect">
            <a:avLst/>
          </a:prstGeom>
          <a:solidFill>
            <a:srgbClr val="DC728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3"/>
          <p:cNvSpPr/>
          <p:nvPr/>
        </p:nvSpPr>
        <p:spPr>
          <a:xfrm>
            <a:off x="4082796" y="5349240"/>
            <a:ext cx="141732" cy="146304"/>
          </a:xfrm>
          <a:prstGeom prst="rect">
            <a:avLst/>
          </a:prstGeom>
          <a:solidFill>
            <a:srgbClr val="4E81E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3"/>
          <p:cNvSpPr/>
          <p:nvPr/>
        </p:nvSpPr>
        <p:spPr>
          <a:xfrm>
            <a:off x="4892040" y="2514600"/>
            <a:ext cx="3246120" cy="1737360"/>
          </a:xfrm>
          <a:prstGeom prst="roundRect">
            <a:avLst>
              <a:gd fmla="val 9474"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3"/>
          <p:cNvSpPr/>
          <p:nvPr/>
        </p:nvSpPr>
        <p:spPr>
          <a:xfrm>
            <a:off x="5166360" y="278892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6" name="Google Shape;86;p3"/>
          <p:cNvPicPr preferRelativeResize="0"/>
          <p:nvPr/>
        </p:nvPicPr>
        <p:blipFill rotWithShape="1">
          <a:blip r:embed="rId3">
            <a:alphaModFix/>
          </a:blip>
          <a:srcRect b="0" l="0" r="0" t="0"/>
          <a:stretch/>
        </p:blipFill>
        <p:spPr>
          <a:xfrm>
            <a:off x="5303520" y="2926080"/>
            <a:ext cx="274320" cy="274320"/>
          </a:xfrm>
          <a:prstGeom prst="rect">
            <a:avLst/>
          </a:prstGeom>
          <a:noFill/>
          <a:ln>
            <a:noFill/>
          </a:ln>
        </p:spPr>
      </p:pic>
      <p:sp>
        <p:nvSpPr>
          <p:cNvPr id="87" name="Google Shape;87;p3"/>
          <p:cNvSpPr txBox="1"/>
          <p:nvPr/>
        </p:nvSpPr>
        <p:spPr>
          <a:xfrm>
            <a:off x="5166360" y="3429000"/>
            <a:ext cx="2743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Map</a:t>
            </a:r>
            <a:endParaRPr sz="1800">
              <a:solidFill>
                <a:schemeClr val="dk1"/>
              </a:solidFill>
              <a:latin typeface="Calibri"/>
              <a:ea typeface="Calibri"/>
              <a:cs typeface="Calibri"/>
              <a:sym typeface="Calibri"/>
            </a:endParaRPr>
          </a:p>
        </p:txBody>
      </p:sp>
      <p:sp>
        <p:nvSpPr>
          <p:cNvPr id="88" name="Google Shape;88;p3"/>
          <p:cNvSpPr txBox="1"/>
          <p:nvPr/>
        </p:nvSpPr>
        <p:spPr>
          <a:xfrm>
            <a:off x="5166360" y="3776472"/>
            <a:ext cx="2834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lang="en-US" sz="1300">
                <a:solidFill>
                  <a:srgbClr val="5E6B63"/>
                </a:solidFill>
                <a:latin typeface="Calibri"/>
                <a:ea typeface="Calibri"/>
                <a:cs typeface="Calibri"/>
                <a:sym typeface="Calibri"/>
              </a:rPr>
              <a:t>Locate companies across New Jersey</a:t>
            </a:r>
            <a:endParaRPr sz="1300">
              <a:solidFill>
                <a:schemeClr val="dk1"/>
              </a:solidFill>
              <a:latin typeface="Calibri"/>
              <a:ea typeface="Calibri"/>
              <a:cs typeface="Calibri"/>
              <a:sym typeface="Calibri"/>
            </a:endParaRPr>
          </a:p>
        </p:txBody>
      </p:sp>
      <p:sp>
        <p:nvSpPr>
          <p:cNvPr id="89" name="Google Shape;89;p3"/>
          <p:cNvSpPr/>
          <p:nvPr/>
        </p:nvSpPr>
        <p:spPr>
          <a:xfrm>
            <a:off x="8366760" y="2514600"/>
            <a:ext cx="3246120" cy="1737360"/>
          </a:xfrm>
          <a:prstGeom prst="roundRect">
            <a:avLst>
              <a:gd fmla="val 9474"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3"/>
          <p:cNvSpPr/>
          <p:nvPr/>
        </p:nvSpPr>
        <p:spPr>
          <a:xfrm>
            <a:off x="8641080" y="278892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1" name="Google Shape;91;p3"/>
          <p:cNvPicPr preferRelativeResize="0"/>
          <p:nvPr/>
        </p:nvPicPr>
        <p:blipFill rotWithShape="1">
          <a:blip r:embed="rId4">
            <a:alphaModFix/>
          </a:blip>
          <a:srcRect b="0" l="0" r="0" t="0"/>
          <a:stretch/>
        </p:blipFill>
        <p:spPr>
          <a:xfrm>
            <a:off x="8778240" y="2926080"/>
            <a:ext cx="274320" cy="274320"/>
          </a:xfrm>
          <a:prstGeom prst="rect">
            <a:avLst/>
          </a:prstGeom>
          <a:noFill/>
          <a:ln>
            <a:noFill/>
          </a:ln>
        </p:spPr>
      </p:pic>
      <p:sp>
        <p:nvSpPr>
          <p:cNvPr id="92" name="Google Shape;92;p3"/>
          <p:cNvSpPr txBox="1"/>
          <p:nvPr/>
        </p:nvSpPr>
        <p:spPr>
          <a:xfrm>
            <a:off x="8641080" y="3429000"/>
            <a:ext cx="2743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Leaderboard</a:t>
            </a:r>
            <a:endParaRPr sz="1800">
              <a:solidFill>
                <a:schemeClr val="dk1"/>
              </a:solidFill>
              <a:latin typeface="Calibri"/>
              <a:ea typeface="Calibri"/>
              <a:cs typeface="Calibri"/>
              <a:sym typeface="Calibri"/>
            </a:endParaRPr>
          </a:p>
        </p:txBody>
      </p:sp>
      <p:sp>
        <p:nvSpPr>
          <p:cNvPr id="93" name="Google Shape;93;p3"/>
          <p:cNvSpPr txBox="1"/>
          <p:nvPr/>
        </p:nvSpPr>
        <p:spPr>
          <a:xfrm>
            <a:off x="8641080" y="3776472"/>
            <a:ext cx="2834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lang="en-US" sz="1300">
                <a:solidFill>
                  <a:srgbClr val="5E6B63"/>
                </a:solidFill>
                <a:latin typeface="Calibri"/>
                <a:ea typeface="Calibri"/>
                <a:cs typeface="Calibri"/>
                <a:sym typeface="Calibri"/>
              </a:rPr>
              <a:t>Compare startups by score</a:t>
            </a:r>
            <a:endParaRPr sz="1300">
              <a:solidFill>
                <a:schemeClr val="dk1"/>
              </a:solidFill>
              <a:latin typeface="Calibri"/>
              <a:ea typeface="Calibri"/>
              <a:cs typeface="Calibri"/>
              <a:sym typeface="Calibri"/>
            </a:endParaRPr>
          </a:p>
        </p:txBody>
      </p:sp>
      <p:sp>
        <p:nvSpPr>
          <p:cNvPr id="94" name="Google Shape;94;p3"/>
          <p:cNvSpPr/>
          <p:nvPr/>
        </p:nvSpPr>
        <p:spPr>
          <a:xfrm>
            <a:off x="4892040" y="4389120"/>
            <a:ext cx="3246120" cy="1737360"/>
          </a:xfrm>
          <a:prstGeom prst="roundRect">
            <a:avLst>
              <a:gd fmla="val 9474"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3"/>
          <p:cNvSpPr/>
          <p:nvPr/>
        </p:nvSpPr>
        <p:spPr>
          <a:xfrm>
            <a:off x="5166360" y="466344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6" name="Google Shape;96;p3"/>
          <p:cNvPicPr preferRelativeResize="0"/>
          <p:nvPr/>
        </p:nvPicPr>
        <p:blipFill rotWithShape="1">
          <a:blip r:embed="rId5">
            <a:alphaModFix/>
          </a:blip>
          <a:srcRect b="0" l="0" r="0" t="0"/>
          <a:stretch/>
        </p:blipFill>
        <p:spPr>
          <a:xfrm>
            <a:off x="5303520" y="4800600"/>
            <a:ext cx="274320" cy="274320"/>
          </a:xfrm>
          <a:prstGeom prst="rect">
            <a:avLst/>
          </a:prstGeom>
          <a:noFill/>
          <a:ln>
            <a:noFill/>
          </a:ln>
        </p:spPr>
      </p:pic>
      <p:sp>
        <p:nvSpPr>
          <p:cNvPr id="97" name="Google Shape;97;p3"/>
          <p:cNvSpPr txBox="1"/>
          <p:nvPr/>
        </p:nvSpPr>
        <p:spPr>
          <a:xfrm>
            <a:off x="5166360" y="5303520"/>
            <a:ext cx="2743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Company profiles</a:t>
            </a:r>
            <a:endParaRPr sz="1800">
              <a:solidFill>
                <a:schemeClr val="dk1"/>
              </a:solidFill>
              <a:latin typeface="Calibri"/>
              <a:ea typeface="Calibri"/>
              <a:cs typeface="Calibri"/>
              <a:sym typeface="Calibri"/>
            </a:endParaRPr>
          </a:p>
        </p:txBody>
      </p:sp>
      <p:sp>
        <p:nvSpPr>
          <p:cNvPr id="98" name="Google Shape;98;p3"/>
          <p:cNvSpPr txBox="1"/>
          <p:nvPr/>
        </p:nvSpPr>
        <p:spPr>
          <a:xfrm>
            <a:off x="5166360" y="5650992"/>
            <a:ext cx="2834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lang="en-US" sz="1300">
                <a:solidFill>
                  <a:srgbClr val="5E6B63"/>
                </a:solidFill>
                <a:latin typeface="Calibri"/>
                <a:ea typeface="Calibri"/>
                <a:cs typeface="Calibri"/>
                <a:sym typeface="Calibri"/>
              </a:rPr>
              <a:t>Explore the signals behind each company</a:t>
            </a:r>
            <a:endParaRPr sz="1300">
              <a:solidFill>
                <a:schemeClr val="dk1"/>
              </a:solidFill>
              <a:latin typeface="Calibri"/>
              <a:ea typeface="Calibri"/>
              <a:cs typeface="Calibri"/>
              <a:sym typeface="Calibri"/>
            </a:endParaRPr>
          </a:p>
        </p:txBody>
      </p:sp>
      <p:sp>
        <p:nvSpPr>
          <p:cNvPr id="99" name="Google Shape;99;p3"/>
          <p:cNvSpPr/>
          <p:nvPr/>
        </p:nvSpPr>
        <p:spPr>
          <a:xfrm>
            <a:off x="8366760" y="4389120"/>
            <a:ext cx="3246120" cy="1737360"/>
          </a:xfrm>
          <a:prstGeom prst="roundRect">
            <a:avLst>
              <a:gd fmla="val 9474"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3"/>
          <p:cNvSpPr/>
          <p:nvPr/>
        </p:nvSpPr>
        <p:spPr>
          <a:xfrm>
            <a:off x="8641080" y="466344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1" name="Google Shape;101;p3"/>
          <p:cNvPicPr preferRelativeResize="0"/>
          <p:nvPr/>
        </p:nvPicPr>
        <p:blipFill rotWithShape="1">
          <a:blip r:embed="rId6">
            <a:alphaModFix/>
          </a:blip>
          <a:srcRect b="0" l="0" r="0" t="0"/>
          <a:stretch/>
        </p:blipFill>
        <p:spPr>
          <a:xfrm>
            <a:off x="8778240" y="4800600"/>
            <a:ext cx="274320" cy="274320"/>
          </a:xfrm>
          <a:prstGeom prst="rect">
            <a:avLst/>
          </a:prstGeom>
          <a:noFill/>
          <a:ln>
            <a:noFill/>
          </a:ln>
        </p:spPr>
      </p:pic>
      <p:sp>
        <p:nvSpPr>
          <p:cNvPr id="102" name="Google Shape;102;p3"/>
          <p:cNvSpPr txBox="1"/>
          <p:nvPr/>
        </p:nvSpPr>
        <p:spPr>
          <a:xfrm>
            <a:off x="8641080" y="5303520"/>
            <a:ext cx="2743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Sector clusters</a:t>
            </a:r>
            <a:endParaRPr sz="1800">
              <a:solidFill>
                <a:schemeClr val="dk1"/>
              </a:solidFill>
              <a:latin typeface="Calibri"/>
              <a:ea typeface="Calibri"/>
              <a:cs typeface="Calibri"/>
              <a:sym typeface="Calibri"/>
            </a:endParaRPr>
          </a:p>
        </p:txBody>
      </p:sp>
      <p:sp>
        <p:nvSpPr>
          <p:cNvPr id="103" name="Google Shape;103;p3"/>
          <p:cNvSpPr txBox="1"/>
          <p:nvPr/>
        </p:nvSpPr>
        <p:spPr>
          <a:xfrm>
            <a:off x="8641080" y="5650992"/>
            <a:ext cx="2834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lang="en-US" sz="1300">
                <a:solidFill>
                  <a:srgbClr val="5E6B63"/>
                </a:solidFill>
                <a:latin typeface="Calibri"/>
                <a:ea typeface="Calibri"/>
                <a:cs typeface="Calibri"/>
                <a:sym typeface="Calibri"/>
              </a:rPr>
              <a:t>See momentum across industries</a:t>
            </a:r>
            <a:endParaRPr sz="13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4631"/>
        </a:solidFill>
      </p:bgPr>
    </p:bg>
    <p:spTree>
      <p:nvGrpSpPr>
        <p:cNvPr id="108" name="Shape 108"/>
        <p:cNvGrpSpPr/>
        <p:nvPr/>
      </p:nvGrpSpPr>
      <p:grpSpPr>
        <a:xfrm>
          <a:off x="0" y="0"/>
          <a:ext cx="0" cy="0"/>
          <a:chOff x="0" y="0"/>
          <a:chExt cx="0" cy="0"/>
        </a:xfrm>
      </p:grpSpPr>
      <p:sp>
        <p:nvSpPr>
          <p:cNvPr id="109" name="Google Shape;109;p4"/>
          <p:cNvSpPr/>
          <p:nvPr/>
        </p:nvSpPr>
        <p:spPr>
          <a:xfrm>
            <a:off x="548640" y="365760"/>
            <a:ext cx="1019556" cy="329184"/>
          </a:xfrm>
          <a:prstGeom prst="roundRect">
            <a:avLst>
              <a:gd fmla="val 50000" name="adj"/>
            </a:avLst>
          </a:prstGeom>
          <a:solidFill>
            <a:srgbClr val="2C5E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4"/>
          <p:cNvSpPr txBox="1"/>
          <p:nvPr/>
        </p:nvSpPr>
        <p:spPr>
          <a:xfrm>
            <a:off x="548640" y="365760"/>
            <a:ext cx="101955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DDB5"/>
              </a:buClr>
              <a:buSzPts val="1100"/>
              <a:buFont typeface="Calibri"/>
              <a:buNone/>
            </a:pPr>
            <a:r>
              <a:rPr b="1" lang="en-US" sz="1100">
                <a:solidFill>
                  <a:srgbClr val="A8DDB5"/>
                </a:solidFill>
                <a:latin typeface="Calibri"/>
                <a:ea typeface="Calibri"/>
                <a:cs typeface="Calibri"/>
                <a:sym typeface="Calibri"/>
              </a:rPr>
              <a:t>Why now</a:t>
            </a:r>
            <a:endParaRPr sz="1100">
              <a:solidFill>
                <a:schemeClr val="dk1"/>
              </a:solidFill>
              <a:latin typeface="Calibri"/>
              <a:ea typeface="Calibri"/>
              <a:cs typeface="Calibri"/>
              <a:sym typeface="Calibri"/>
            </a:endParaRPr>
          </a:p>
        </p:txBody>
      </p:sp>
      <p:sp>
        <p:nvSpPr>
          <p:cNvPr id="111" name="Google Shape;111;p4"/>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C9E0CF"/>
              </a:buClr>
              <a:buSzPts val="1200"/>
              <a:buFont typeface="Calibri"/>
              <a:buNone/>
            </a:pPr>
            <a:r>
              <a:rPr b="1" lang="en-US" sz="1200">
                <a:solidFill>
                  <a:srgbClr val="C9E0CF"/>
                </a:solidFill>
                <a:latin typeface="Calibri"/>
                <a:ea typeface="Calibri"/>
                <a:cs typeface="Calibri"/>
                <a:sym typeface="Calibri"/>
              </a:rPr>
              <a:t>04</a:t>
            </a:r>
            <a:endParaRPr sz="1200">
              <a:solidFill>
                <a:schemeClr val="dk1"/>
              </a:solidFill>
              <a:latin typeface="Calibri"/>
              <a:ea typeface="Calibri"/>
              <a:cs typeface="Calibri"/>
              <a:sym typeface="Calibri"/>
            </a:endParaRPr>
          </a:p>
        </p:txBody>
      </p:sp>
      <p:sp>
        <p:nvSpPr>
          <p:cNvPr id="112" name="Google Shape;112;p4"/>
          <p:cNvSpPr txBox="1"/>
          <p:nvPr/>
        </p:nvSpPr>
        <p:spPr>
          <a:xfrm>
            <a:off x="548640" y="914400"/>
            <a:ext cx="8229600" cy="201168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FFFFFF"/>
              </a:buClr>
              <a:buSzPts val="5600"/>
              <a:buFont typeface="Arial"/>
              <a:buNone/>
            </a:pPr>
            <a:r>
              <a:rPr b="1" lang="en-US" sz="5600">
                <a:solidFill>
                  <a:srgbClr val="FFFFFF"/>
                </a:solidFill>
                <a:latin typeface="Arial"/>
                <a:ea typeface="Arial"/>
                <a:cs typeface="Arial"/>
                <a:sym typeface="Arial"/>
              </a:rPr>
              <a:t>Discover earlier.</a:t>
            </a:r>
            <a:endParaRPr sz="5600">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A8DDB5"/>
              </a:buClr>
              <a:buSzPts val="5600"/>
              <a:buFont typeface="Arial"/>
              <a:buNone/>
            </a:pPr>
            <a:r>
              <a:rPr b="1" lang="en-US" sz="5600">
                <a:solidFill>
                  <a:srgbClr val="A8DDB5"/>
                </a:solidFill>
                <a:latin typeface="Arial"/>
                <a:ea typeface="Arial"/>
                <a:cs typeface="Arial"/>
                <a:sym typeface="Arial"/>
              </a:rPr>
              <a:t>Evaluate faster.</a:t>
            </a:r>
            <a:endParaRPr sz="5600">
              <a:solidFill>
                <a:schemeClr val="dk1"/>
              </a:solidFill>
              <a:latin typeface="Calibri"/>
              <a:ea typeface="Calibri"/>
              <a:cs typeface="Calibri"/>
              <a:sym typeface="Calibri"/>
            </a:endParaRPr>
          </a:p>
        </p:txBody>
      </p:sp>
      <p:sp>
        <p:nvSpPr>
          <p:cNvPr id="113" name="Google Shape;113;p4"/>
          <p:cNvSpPr txBox="1"/>
          <p:nvPr/>
        </p:nvSpPr>
        <p:spPr>
          <a:xfrm>
            <a:off x="548640" y="2971800"/>
            <a:ext cx="9144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E0CF"/>
              </a:buClr>
              <a:buSzPts val="2200"/>
              <a:buFont typeface="Calibri"/>
              <a:buNone/>
            </a:pPr>
            <a:r>
              <a:rPr lang="en-US" sz="2200">
                <a:solidFill>
                  <a:srgbClr val="C9E0CF"/>
                </a:solidFill>
                <a:latin typeface="Calibri"/>
                <a:ea typeface="Calibri"/>
                <a:cs typeface="Calibri"/>
                <a:sym typeface="Calibri"/>
              </a:rPr>
              <a:t>Build relationships before the opportunity is widely known.</a:t>
            </a:r>
            <a:endParaRPr sz="2200">
              <a:solidFill>
                <a:schemeClr val="dk1"/>
              </a:solidFill>
              <a:latin typeface="Calibri"/>
              <a:ea typeface="Calibri"/>
              <a:cs typeface="Calibri"/>
              <a:sym typeface="Calibri"/>
            </a:endParaRPr>
          </a:p>
        </p:txBody>
      </p:sp>
      <p:sp>
        <p:nvSpPr>
          <p:cNvPr id="114" name="Google Shape;114;p4"/>
          <p:cNvSpPr/>
          <p:nvPr/>
        </p:nvSpPr>
        <p:spPr>
          <a:xfrm>
            <a:off x="548640" y="3840480"/>
            <a:ext cx="3474720" cy="2377440"/>
          </a:xfrm>
          <a:prstGeom prst="roundRect">
            <a:avLst>
              <a:gd fmla="val 7692"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4"/>
          <p:cNvSpPr/>
          <p:nvPr/>
        </p:nvSpPr>
        <p:spPr>
          <a:xfrm>
            <a:off x="822960" y="411480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6" name="Google Shape;116;p4"/>
          <p:cNvPicPr preferRelativeResize="0"/>
          <p:nvPr/>
        </p:nvPicPr>
        <p:blipFill rotWithShape="1">
          <a:blip r:embed="rId3">
            <a:alphaModFix/>
          </a:blip>
          <a:srcRect b="0" l="0" r="0" t="0"/>
          <a:stretch/>
        </p:blipFill>
        <p:spPr>
          <a:xfrm>
            <a:off x="960120" y="4251960"/>
            <a:ext cx="274320" cy="274320"/>
          </a:xfrm>
          <a:prstGeom prst="rect">
            <a:avLst/>
          </a:prstGeom>
          <a:noFill/>
          <a:ln>
            <a:noFill/>
          </a:ln>
        </p:spPr>
      </p:pic>
      <p:sp>
        <p:nvSpPr>
          <p:cNvPr id="117" name="Google Shape;117;p4"/>
          <p:cNvSpPr txBox="1"/>
          <p:nvPr/>
        </p:nvSpPr>
        <p:spPr>
          <a:xfrm>
            <a:off x="3200400" y="416052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400"/>
              <a:buFont typeface="Calibri"/>
              <a:buNone/>
            </a:pPr>
            <a:r>
              <a:rPr b="1" lang="en-US" sz="1400">
                <a:solidFill>
                  <a:srgbClr val="5E6B63"/>
                </a:solidFill>
                <a:latin typeface="Calibri"/>
                <a:ea typeface="Calibri"/>
                <a:cs typeface="Calibri"/>
                <a:sym typeface="Calibri"/>
              </a:rPr>
              <a:t>01</a:t>
            </a:r>
            <a:endParaRPr sz="1400">
              <a:solidFill>
                <a:schemeClr val="dk1"/>
              </a:solidFill>
              <a:latin typeface="Calibri"/>
              <a:ea typeface="Calibri"/>
              <a:cs typeface="Calibri"/>
              <a:sym typeface="Calibri"/>
            </a:endParaRPr>
          </a:p>
        </p:txBody>
      </p:sp>
      <p:sp>
        <p:nvSpPr>
          <p:cNvPr id="118" name="Google Shape;118;p4"/>
          <p:cNvSpPr txBox="1"/>
          <p:nvPr/>
        </p:nvSpPr>
        <p:spPr>
          <a:xfrm>
            <a:off x="822960" y="484632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900"/>
              <a:buFont typeface="Calibri"/>
              <a:buNone/>
            </a:pPr>
            <a:r>
              <a:rPr b="1" lang="en-US" sz="1900">
                <a:solidFill>
                  <a:srgbClr val="17261D"/>
                </a:solidFill>
                <a:latin typeface="Calibri"/>
                <a:ea typeface="Calibri"/>
                <a:cs typeface="Calibri"/>
                <a:sym typeface="Calibri"/>
              </a:rPr>
              <a:t>Competing for access</a:t>
            </a:r>
            <a:endParaRPr sz="1900">
              <a:solidFill>
                <a:schemeClr val="dk1"/>
              </a:solidFill>
              <a:latin typeface="Calibri"/>
              <a:ea typeface="Calibri"/>
              <a:cs typeface="Calibri"/>
              <a:sym typeface="Calibri"/>
            </a:endParaRPr>
          </a:p>
        </p:txBody>
      </p:sp>
      <p:sp>
        <p:nvSpPr>
          <p:cNvPr id="119" name="Google Shape;119;p4"/>
          <p:cNvSpPr txBox="1"/>
          <p:nvPr/>
        </p:nvSpPr>
        <p:spPr>
          <a:xfrm>
            <a:off x="822960" y="5257800"/>
            <a:ext cx="29260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400"/>
              <a:buFont typeface="Calibri"/>
              <a:buNone/>
            </a:pPr>
            <a:r>
              <a:rPr lang="en-US" sz="1400">
                <a:solidFill>
                  <a:srgbClr val="5E6B63"/>
                </a:solidFill>
                <a:latin typeface="Calibri"/>
                <a:ea typeface="Calibri"/>
                <a:cs typeface="Calibri"/>
                <a:sym typeface="Calibri"/>
              </a:rPr>
              <a:t>Other investors may reach promising companies first.</a:t>
            </a:r>
            <a:endParaRPr sz="1400">
              <a:solidFill>
                <a:schemeClr val="dk1"/>
              </a:solidFill>
              <a:latin typeface="Calibri"/>
              <a:ea typeface="Calibri"/>
              <a:cs typeface="Calibri"/>
              <a:sym typeface="Calibri"/>
            </a:endParaRPr>
          </a:p>
        </p:txBody>
      </p:sp>
      <p:sp>
        <p:nvSpPr>
          <p:cNvPr id="120" name="Google Shape;120;p4"/>
          <p:cNvSpPr/>
          <p:nvPr/>
        </p:nvSpPr>
        <p:spPr>
          <a:xfrm>
            <a:off x="4297680" y="3840480"/>
            <a:ext cx="3474720" cy="2377440"/>
          </a:xfrm>
          <a:prstGeom prst="roundRect">
            <a:avLst>
              <a:gd fmla="val 7692"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4"/>
          <p:cNvSpPr/>
          <p:nvPr/>
        </p:nvSpPr>
        <p:spPr>
          <a:xfrm>
            <a:off x="4572000" y="411480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2" name="Google Shape;122;p4"/>
          <p:cNvPicPr preferRelativeResize="0"/>
          <p:nvPr/>
        </p:nvPicPr>
        <p:blipFill rotWithShape="1">
          <a:blip r:embed="rId4">
            <a:alphaModFix/>
          </a:blip>
          <a:srcRect b="0" l="0" r="0" t="0"/>
          <a:stretch/>
        </p:blipFill>
        <p:spPr>
          <a:xfrm>
            <a:off x="4709160" y="4251960"/>
            <a:ext cx="274320" cy="274320"/>
          </a:xfrm>
          <a:prstGeom prst="rect">
            <a:avLst/>
          </a:prstGeom>
          <a:noFill/>
          <a:ln>
            <a:noFill/>
          </a:ln>
        </p:spPr>
      </p:pic>
      <p:sp>
        <p:nvSpPr>
          <p:cNvPr id="123" name="Google Shape;123;p4"/>
          <p:cNvSpPr txBox="1"/>
          <p:nvPr/>
        </p:nvSpPr>
        <p:spPr>
          <a:xfrm>
            <a:off x="6949440" y="416052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400"/>
              <a:buFont typeface="Calibri"/>
              <a:buNone/>
            </a:pPr>
            <a:r>
              <a:rPr b="1" lang="en-US" sz="1400">
                <a:solidFill>
                  <a:srgbClr val="5E6B63"/>
                </a:solidFill>
                <a:latin typeface="Calibri"/>
                <a:ea typeface="Calibri"/>
                <a:cs typeface="Calibri"/>
                <a:sym typeface="Calibri"/>
              </a:rPr>
              <a:t>02</a:t>
            </a:r>
            <a:endParaRPr sz="1400">
              <a:solidFill>
                <a:schemeClr val="dk1"/>
              </a:solidFill>
              <a:latin typeface="Calibri"/>
              <a:ea typeface="Calibri"/>
              <a:cs typeface="Calibri"/>
              <a:sym typeface="Calibri"/>
            </a:endParaRPr>
          </a:p>
        </p:txBody>
      </p:sp>
      <p:sp>
        <p:nvSpPr>
          <p:cNvPr id="124" name="Google Shape;124;p4"/>
          <p:cNvSpPr txBox="1"/>
          <p:nvPr/>
        </p:nvSpPr>
        <p:spPr>
          <a:xfrm>
            <a:off x="4572000" y="484632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900"/>
              <a:buFont typeface="Calibri"/>
              <a:buNone/>
            </a:pPr>
            <a:r>
              <a:rPr b="1" lang="en-US" sz="1900">
                <a:solidFill>
                  <a:srgbClr val="17261D"/>
                </a:solidFill>
                <a:latin typeface="Calibri"/>
                <a:ea typeface="Calibri"/>
                <a:cs typeface="Calibri"/>
                <a:sym typeface="Calibri"/>
              </a:rPr>
              <a:t>Fragmented information</a:t>
            </a:r>
            <a:endParaRPr sz="1900">
              <a:solidFill>
                <a:schemeClr val="dk1"/>
              </a:solidFill>
              <a:latin typeface="Calibri"/>
              <a:ea typeface="Calibri"/>
              <a:cs typeface="Calibri"/>
              <a:sym typeface="Calibri"/>
            </a:endParaRPr>
          </a:p>
        </p:txBody>
      </p:sp>
      <p:sp>
        <p:nvSpPr>
          <p:cNvPr id="125" name="Google Shape;125;p4"/>
          <p:cNvSpPr txBox="1"/>
          <p:nvPr/>
        </p:nvSpPr>
        <p:spPr>
          <a:xfrm>
            <a:off x="4572000" y="5257800"/>
            <a:ext cx="29260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400"/>
              <a:buFont typeface="Calibri"/>
              <a:buNone/>
            </a:pPr>
            <a:r>
              <a:rPr lang="en-US" sz="1400">
                <a:solidFill>
                  <a:srgbClr val="5E6B63"/>
                </a:solidFill>
                <a:latin typeface="Calibri"/>
                <a:ea typeface="Calibri"/>
                <a:cs typeface="Calibri"/>
                <a:sym typeface="Calibri"/>
              </a:rPr>
              <a:t>Gathering signals takes time before evaluation can begin.</a:t>
            </a:r>
            <a:endParaRPr sz="1400">
              <a:solidFill>
                <a:schemeClr val="dk1"/>
              </a:solidFill>
              <a:latin typeface="Calibri"/>
              <a:ea typeface="Calibri"/>
              <a:cs typeface="Calibri"/>
              <a:sym typeface="Calibri"/>
            </a:endParaRPr>
          </a:p>
        </p:txBody>
      </p:sp>
      <p:sp>
        <p:nvSpPr>
          <p:cNvPr id="126" name="Google Shape;126;p4"/>
          <p:cNvSpPr/>
          <p:nvPr/>
        </p:nvSpPr>
        <p:spPr>
          <a:xfrm>
            <a:off x="8046720" y="3840480"/>
            <a:ext cx="3474720" cy="2377440"/>
          </a:xfrm>
          <a:prstGeom prst="roundRect">
            <a:avLst>
              <a:gd fmla="val 7692" name="adj"/>
            </a:avLst>
          </a:prstGeom>
          <a:solidFill>
            <a:srgbClr val="A8DDB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4"/>
          <p:cNvSpPr/>
          <p:nvPr/>
        </p:nvSpPr>
        <p:spPr>
          <a:xfrm>
            <a:off x="8321040" y="4114800"/>
            <a:ext cx="548640" cy="548640"/>
          </a:xfrm>
          <a:prstGeom prst="roundRect">
            <a:avLst>
              <a:gd fmla="val 28000" name="adj"/>
            </a:avLst>
          </a:prstGeom>
          <a:solidFill>
            <a:srgbClr val="1F463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8" name="Google Shape;128;p4"/>
          <p:cNvPicPr preferRelativeResize="0"/>
          <p:nvPr/>
        </p:nvPicPr>
        <p:blipFill rotWithShape="1">
          <a:blip r:embed="rId5">
            <a:alphaModFix/>
          </a:blip>
          <a:srcRect b="0" l="0" r="0" t="0"/>
          <a:stretch/>
        </p:blipFill>
        <p:spPr>
          <a:xfrm>
            <a:off x="8458200" y="4251960"/>
            <a:ext cx="274320" cy="274320"/>
          </a:xfrm>
          <a:prstGeom prst="rect">
            <a:avLst/>
          </a:prstGeom>
          <a:noFill/>
          <a:ln>
            <a:noFill/>
          </a:ln>
        </p:spPr>
      </p:pic>
      <p:sp>
        <p:nvSpPr>
          <p:cNvPr id="129" name="Google Shape;129;p4"/>
          <p:cNvSpPr txBox="1"/>
          <p:nvPr/>
        </p:nvSpPr>
        <p:spPr>
          <a:xfrm>
            <a:off x="10698480" y="416052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9593E"/>
              </a:buClr>
              <a:buSzPts val="1400"/>
              <a:buFont typeface="Calibri"/>
              <a:buNone/>
            </a:pPr>
            <a:r>
              <a:rPr b="1" lang="en-US" sz="1400">
                <a:solidFill>
                  <a:srgbClr val="29593E"/>
                </a:solidFill>
                <a:latin typeface="Calibri"/>
                <a:ea typeface="Calibri"/>
                <a:cs typeface="Calibri"/>
                <a:sym typeface="Calibri"/>
              </a:rPr>
              <a:t>03</a:t>
            </a:r>
            <a:endParaRPr sz="1400">
              <a:solidFill>
                <a:schemeClr val="dk1"/>
              </a:solidFill>
              <a:latin typeface="Calibri"/>
              <a:ea typeface="Calibri"/>
              <a:cs typeface="Calibri"/>
              <a:sym typeface="Calibri"/>
            </a:endParaRPr>
          </a:p>
        </p:txBody>
      </p:sp>
      <p:sp>
        <p:nvSpPr>
          <p:cNvPr id="130" name="Google Shape;130;p4"/>
          <p:cNvSpPr txBox="1"/>
          <p:nvPr/>
        </p:nvSpPr>
        <p:spPr>
          <a:xfrm>
            <a:off x="8321040" y="484632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900"/>
              <a:buFont typeface="Calibri"/>
              <a:buNone/>
            </a:pPr>
            <a:r>
              <a:rPr b="1" lang="en-US" sz="1900">
                <a:solidFill>
                  <a:srgbClr val="17261D"/>
                </a:solidFill>
                <a:latin typeface="Calibri"/>
                <a:ea typeface="Calibri"/>
                <a:cs typeface="Calibri"/>
                <a:sym typeface="Calibri"/>
              </a:rPr>
              <a:t>Earlier assessment</a:t>
            </a:r>
            <a:endParaRPr sz="1900">
              <a:solidFill>
                <a:schemeClr val="dk1"/>
              </a:solidFill>
              <a:latin typeface="Calibri"/>
              <a:ea typeface="Calibri"/>
              <a:cs typeface="Calibri"/>
              <a:sym typeface="Calibri"/>
            </a:endParaRPr>
          </a:p>
        </p:txBody>
      </p:sp>
      <p:sp>
        <p:nvSpPr>
          <p:cNvPr id="131" name="Google Shape;131;p4"/>
          <p:cNvSpPr txBox="1"/>
          <p:nvPr/>
        </p:nvSpPr>
        <p:spPr>
          <a:xfrm>
            <a:off x="8321040" y="5257800"/>
            <a:ext cx="29260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631"/>
              </a:buClr>
              <a:buSzPts val="1400"/>
              <a:buFont typeface="Calibri"/>
              <a:buNone/>
            </a:pPr>
            <a:r>
              <a:rPr lang="en-US" sz="1400">
                <a:solidFill>
                  <a:srgbClr val="1F4631"/>
                </a:solidFill>
                <a:latin typeface="Calibri"/>
                <a:ea typeface="Calibri"/>
                <a:cs typeface="Calibri"/>
                <a:sym typeface="Calibri"/>
              </a:rPr>
              <a:t>Combined signals help teams start evaluating sooner.</a:t>
            </a:r>
            <a:endParaRPr sz="14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1"/>
        </a:solidFill>
      </p:bgPr>
    </p:bg>
    <p:spTree>
      <p:nvGrpSpPr>
        <p:cNvPr id="136" name="Shape 136"/>
        <p:cNvGrpSpPr/>
        <p:nvPr/>
      </p:nvGrpSpPr>
      <p:grpSpPr>
        <a:xfrm>
          <a:off x="0" y="0"/>
          <a:ext cx="0" cy="0"/>
          <a:chOff x="0" y="0"/>
          <a:chExt cx="0" cy="0"/>
        </a:xfrm>
      </p:grpSpPr>
      <p:sp>
        <p:nvSpPr>
          <p:cNvPr id="137" name="Google Shape;137;p5"/>
          <p:cNvSpPr/>
          <p:nvPr/>
        </p:nvSpPr>
        <p:spPr>
          <a:xfrm>
            <a:off x="548640" y="365760"/>
            <a:ext cx="1453896" cy="329184"/>
          </a:xfrm>
          <a:prstGeom prst="roundRect">
            <a:avLst>
              <a:gd fmla="val 50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5"/>
          <p:cNvSpPr txBox="1"/>
          <p:nvPr/>
        </p:nvSpPr>
        <p:spPr>
          <a:xfrm>
            <a:off x="548640" y="365760"/>
            <a:ext cx="145389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Target users</a:t>
            </a:r>
            <a:endParaRPr sz="1100">
              <a:solidFill>
                <a:schemeClr val="dk1"/>
              </a:solidFill>
              <a:latin typeface="Calibri"/>
              <a:ea typeface="Calibri"/>
              <a:cs typeface="Calibri"/>
              <a:sym typeface="Calibri"/>
            </a:endParaRPr>
          </a:p>
        </p:txBody>
      </p:sp>
      <p:sp>
        <p:nvSpPr>
          <p:cNvPr id="139" name="Google Shape;139;p5"/>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200"/>
              <a:buFont typeface="Calibri"/>
              <a:buNone/>
            </a:pPr>
            <a:r>
              <a:rPr b="1" lang="en-US" sz="1200">
                <a:solidFill>
                  <a:srgbClr val="5E6B63"/>
                </a:solidFill>
                <a:latin typeface="Calibri"/>
                <a:ea typeface="Calibri"/>
                <a:cs typeface="Calibri"/>
                <a:sym typeface="Calibri"/>
              </a:rPr>
              <a:t>05</a:t>
            </a:r>
            <a:endParaRPr sz="1200">
              <a:solidFill>
                <a:schemeClr val="dk1"/>
              </a:solidFill>
              <a:latin typeface="Calibri"/>
              <a:ea typeface="Calibri"/>
              <a:cs typeface="Calibri"/>
              <a:sym typeface="Calibri"/>
            </a:endParaRPr>
          </a:p>
        </p:txBody>
      </p:sp>
      <p:sp>
        <p:nvSpPr>
          <p:cNvPr id="140" name="Google Shape;140;p5"/>
          <p:cNvSpPr txBox="1"/>
          <p:nvPr/>
        </p:nvSpPr>
        <p:spPr>
          <a:xfrm>
            <a:off x="548640" y="868680"/>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3600"/>
              <a:buFont typeface="Arial"/>
              <a:buNone/>
            </a:pPr>
            <a:r>
              <a:rPr b="1" lang="en-US" sz="3600">
                <a:solidFill>
                  <a:srgbClr val="17261D"/>
                </a:solidFill>
                <a:latin typeface="Arial"/>
                <a:ea typeface="Arial"/>
                <a:cs typeface="Arial"/>
                <a:sym typeface="Arial"/>
              </a:rPr>
              <a:t>Built for those who spot and support growth.</a:t>
            </a:r>
            <a:endParaRPr sz="3600">
              <a:solidFill>
                <a:schemeClr val="dk1"/>
              </a:solidFill>
              <a:latin typeface="Calibri"/>
              <a:ea typeface="Calibri"/>
              <a:cs typeface="Calibri"/>
              <a:sym typeface="Calibri"/>
            </a:endParaRPr>
          </a:p>
        </p:txBody>
      </p:sp>
      <p:sp>
        <p:nvSpPr>
          <p:cNvPr id="141" name="Google Shape;141;p5"/>
          <p:cNvSpPr/>
          <p:nvPr/>
        </p:nvSpPr>
        <p:spPr>
          <a:xfrm>
            <a:off x="548640" y="1920240"/>
            <a:ext cx="3474720" cy="4206240"/>
          </a:xfrm>
          <a:prstGeom prst="roundRect">
            <a:avLst>
              <a:gd fmla="val 6579"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5"/>
          <p:cNvSpPr/>
          <p:nvPr/>
        </p:nvSpPr>
        <p:spPr>
          <a:xfrm>
            <a:off x="868680" y="2286000"/>
            <a:ext cx="868680" cy="86868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3" name="Google Shape;143;p5"/>
          <p:cNvPicPr preferRelativeResize="0"/>
          <p:nvPr/>
        </p:nvPicPr>
        <p:blipFill rotWithShape="1">
          <a:blip r:embed="rId3">
            <a:alphaModFix/>
          </a:blip>
          <a:srcRect b="0" l="0" r="0" t="0"/>
          <a:stretch/>
        </p:blipFill>
        <p:spPr>
          <a:xfrm>
            <a:off x="1085850" y="2503170"/>
            <a:ext cx="434340" cy="434340"/>
          </a:xfrm>
          <a:prstGeom prst="rect">
            <a:avLst/>
          </a:prstGeom>
          <a:noFill/>
          <a:ln>
            <a:noFill/>
          </a:ln>
        </p:spPr>
      </p:pic>
      <p:sp>
        <p:nvSpPr>
          <p:cNvPr id="144" name="Google Shape;144;p5"/>
          <p:cNvSpPr txBox="1"/>
          <p:nvPr/>
        </p:nvSpPr>
        <p:spPr>
          <a:xfrm>
            <a:off x="868680" y="3383280"/>
            <a:ext cx="29260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2100"/>
              <a:buFont typeface="Arial"/>
              <a:buNone/>
            </a:pPr>
            <a:r>
              <a:rPr b="1" lang="en-US" sz="2100">
                <a:solidFill>
                  <a:srgbClr val="17261D"/>
                </a:solidFill>
                <a:latin typeface="Arial"/>
                <a:ea typeface="Arial"/>
                <a:cs typeface="Arial"/>
                <a:sym typeface="Arial"/>
              </a:rPr>
              <a:t>Investors</a:t>
            </a:r>
            <a:endParaRPr sz="2100">
              <a:solidFill>
                <a:schemeClr val="dk1"/>
              </a:solidFill>
              <a:latin typeface="Calibri"/>
              <a:ea typeface="Calibri"/>
              <a:cs typeface="Calibri"/>
              <a:sym typeface="Calibri"/>
            </a:endParaRPr>
          </a:p>
        </p:txBody>
      </p:sp>
      <p:sp>
        <p:nvSpPr>
          <p:cNvPr id="145" name="Google Shape;145;p5"/>
          <p:cNvSpPr txBox="1"/>
          <p:nvPr/>
        </p:nvSpPr>
        <p:spPr>
          <a:xfrm>
            <a:off x="868680" y="4251960"/>
            <a:ext cx="2926080" cy="16459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5E6B63"/>
              </a:buClr>
              <a:buSzPts val="1500"/>
              <a:buFont typeface="Calibri"/>
              <a:buChar char="•"/>
            </a:pPr>
            <a:r>
              <a:rPr lang="en-US" sz="1500">
                <a:solidFill>
                  <a:srgbClr val="5E6B63"/>
                </a:solidFill>
                <a:latin typeface="Calibri"/>
                <a:ea typeface="Calibri"/>
                <a:cs typeface="Calibri"/>
                <a:sym typeface="Calibri"/>
              </a:rPr>
              <a:t>Find and compare emerging opportunities.</a:t>
            </a:r>
            <a:endParaRPr sz="1500">
              <a:solidFill>
                <a:schemeClr val="dk1"/>
              </a:solidFill>
              <a:latin typeface="Calibri"/>
              <a:ea typeface="Calibri"/>
              <a:cs typeface="Calibri"/>
              <a:sym typeface="Calibri"/>
            </a:endParaRPr>
          </a:p>
          <a:p>
            <a:pPr indent="-203200" lvl="0" marL="203200" marR="0" rtl="0" algn="l">
              <a:spcBef>
                <a:spcPts val="1000"/>
              </a:spcBef>
              <a:spcAft>
                <a:spcPts val="0"/>
              </a:spcAft>
              <a:buClr>
                <a:srgbClr val="5E6B63"/>
              </a:buClr>
              <a:buSzPts val="1500"/>
              <a:buFont typeface="Calibri"/>
              <a:buChar char="•"/>
            </a:pPr>
            <a:r>
              <a:rPr lang="en-US" sz="1500">
                <a:solidFill>
                  <a:srgbClr val="5E6B63"/>
                </a:solidFill>
                <a:latin typeface="Calibri"/>
                <a:ea typeface="Calibri"/>
                <a:cs typeface="Calibri"/>
                <a:sym typeface="Calibri"/>
              </a:rPr>
              <a:t>Start evaluating companies earlier.</a:t>
            </a:r>
            <a:endParaRPr sz="1500">
              <a:solidFill>
                <a:schemeClr val="dk1"/>
              </a:solidFill>
              <a:latin typeface="Calibri"/>
              <a:ea typeface="Calibri"/>
              <a:cs typeface="Calibri"/>
              <a:sym typeface="Calibri"/>
            </a:endParaRPr>
          </a:p>
        </p:txBody>
      </p:sp>
      <p:sp>
        <p:nvSpPr>
          <p:cNvPr id="146" name="Google Shape;146;p5"/>
          <p:cNvSpPr/>
          <p:nvPr/>
        </p:nvSpPr>
        <p:spPr>
          <a:xfrm>
            <a:off x="4297680" y="1920240"/>
            <a:ext cx="3474720" cy="4206240"/>
          </a:xfrm>
          <a:prstGeom prst="roundRect">
            <a:avLst>
              <a:gd fmla="val 6579"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5"/>
          <p:cNvSpPr/>
          <p:nvPr/>
        </p:nvSpPr>
        <p:spPr>
          <a:xfrm>
            <a:off x="4617720" y="2286000"/>
            <a:ext cx="868680" cy="86868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8" name="Google Shape;148;p5"/>
          <p:cNvPicPr preferRelativeResize="0"/>
          <p:nvPr/>
        </p:nvPicPr>
        <p:blipFill rotWithShape="1">
          <a:blip r:embed="rId4">
            <a:alphaModFix/>
          </a:blip>
          <a:srcRect b="0" l="0" r="0" t="0"/>
          <a:stretch/>
        </p:blipFill>
        <p:spPr>
          <a:xfrm>
            <a:off x="4834890" y="2503170"/>
            <a:ext cx="434340" cy="434340"/>
          </a:xfrm>
          <a:prstGeom prst="rect">
            <a:avLst/>
          </a:prstGeom>
          <a:noFill/>
          <a:ln>
            <a:noFill/>
          </a:ln>
        </p:spPr>
      </p:pic>
      <p:sp>
        <p:nvSpPr>
          <p:cNvPr id="149" name="Google Shape;149;p5"/>
          <p:cNvSpPr txBox="1"/>
          <p:nvPr/>
        </p:nvSpPr>
        <p:spPr>
          <a:xfrm>
            <a:off x="4617720" y="3383280"/>
            <a:ext cx="29260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2100"/>
              <a:buFont typeface="Arial"/>
              <a:buNone/>
            </a:pPr>
            <a:r>
              <a:rPr b="1" lang="en-US" sz="2100">
                <a:solidFill>
                  <a:srgbClr val="17261D"/>
                </a:solidFill>
                <a:latin typeface="Arial"/>
                <a:ea typeface="Arial"/>
                <a:cs typeface="Arial"/>
                <a:sym typeface="Arial"/>
              </a:rPr>
              <a:t>Ecosystem builders</a:t>
            </a:r>
            <a:endParaRPr sz="2100">
              <a:solidFill>
                <a:schemeClr val="dk1"/>
              </a:solidFill>
              <a:latin typeface="Calibri"/>
              <a:ea typeface="Calibri"/>
              <a:cs typeface="Calibri"/>
              <a:sym typeface="Calibri"/>
            </a:endParaRPr>
          </a:p>
        </p:txBody>
      </p:sp>
      <p:sp>
        <p:nvSpPr>
          <p:cNvPr id="150" name="Google Shape;150;p5"/>
          <p:cNvSpPr txBox="1"/>
          <p:nvPr/>
        </p:nvSpPr>
        <p:spPr>
          <a:xfrm>
            <a:off x="4617720" y="4251960"/>
            <a:ext cx="2926080" cy="16459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5E6B63"/>
              </a:buClr>
              <a:buSzPts val="1500"/>
              <a:buFont typeface="Calibri"/>
              <a:buChar char="•"/>
            </a:pPr>
            <a:r>
              <a:rPr lang="en-US" sz="1500">
                <a:solidFill>
                  <a:srgbClr val="5E6B63"/>
                </a:solidFill>
                <a:latin typeface="Calibri"/>
                <a:ea typeface="Calibri"/>
                <a:cs typeface="Calibri"/>
                <a:sym typeface="Calibri"/>
              </a:rPr>
              <a:t>Connect startups with programs and networks.</a:t>
            </a:r>
            <a:endParaRPr sz="1500">
              <a:solidFill>
                <a:schemeClr val="dk1"/>
              </a:solidFill>
              <a:latin typeface="Calibri"/>
              <a:ea typeface="Calibri"/>
              <a:cs typeface="Calibri"/>
              <a:sym typeface="Calibri"/>
            </a:endParaRPr>
          </a:p>
          <a:p>
            <a:pPr indent="-203200" lvl="0" marL="203200" marR="0" rtl="0" algn="l">
              <a:spcBef>
                <a:spcPts val="1000"/>
              </a:spcBef>
              <a:spcAft>
                <a:spcPts val="0"/>
              </a:spcAft>
              <a:buClr>
                <a:srgbClr val="5E6B63"/>
              </a:buClr>
              <a:buSzPts val="1500"/>
              <a:buFont typeface="Calibri"/>
              <a:buChar char="•"/>
            </a:pPr>
            <a:r>
              <a:rPr lang="en-US" sz="1500">
                <a:solidFill>
                  <a:srgbClr val="5E6B63"/>
                </a:solidFill>
                <a:latin typeface="Calibri"/>
                <a:ea typeface="Calibri"/>
                <a:cs typeface="Calibri"/>
                <a:sym typeface="Calibri"/>
              </a:rPr>
              <a:t>See companies and sectors across the ecosystem.</a:t>
            </a:r>
            <a:endParaRPr sz="1500">
              <a:solidFill>
                <a:schemeClr val="dk1"/>
              </a:solidFill>
              <a:latin typeface="Calibri"/>
              <a:ea typeface="Calibri"/>
              <a:cs typeface="Calibri"/>
              <a:sym typeface="Calibri"/>
            </a:endParaRPr>
          </a:p>
        </p:txBody>
      </p:sp>
      <p:sp>
        <p:nvSpPr>
          <p:cNvPr id="151" name="Google Shape;151;p5"/>
          <p:cNvSpPr/>
          <p:nvPr/>
        </p:nvSpPr>
        <p:spPr>
          <a:xfrm>
            <a:off x="8046720" y="1920240"/>
            <a:ext cx="3474720" cy="4206240"/>
          </a:xfrm>
          <a:prstGeom prst="roundRect">
            <a:avLst>
              <a:gd fmla="val 6579"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5"/>
          <p:cNvSpPr/>
          <p:nvPr/>
        </p:nvSpPr>
        <p:spPr>
          <a:xfrm>
            <a:off x="8366760" y="2286000"/>
            <a:ext cx="868680" cy="86868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3" name="Google Shape;153;p5"/>
          <p:cNvPicPr preferRelativeResize="0"/>
          <p:nvPr/>
        </p:nvPicPr>
        <p:blipFill rotWithShape="1">
          <a:blip r:embed="rId5">
            <a:alphaModFix/>
          </a:blip>
          <a:srcRect b="0" l="0" r="0" t="0"/>
          <a:stretch/>
        </p:blipFill>
        <p:spPr>
          <a:xfrm>
            <a:off x="8583930" y="2503170"/>
            <a:ext cx="434340" cy="434340"/>
          </a:xfrm>
          <a:prstGeom prst="rect">
            <a:avLst/>
          </a:prstGeom>
          <a:noFill/>
          <a:ln>
            <a:noFill/>
          </a:ln>
        </p:spPr>
      </p:pic>
      <p:sp>
        <p:nvSpPr>
          <p:cNvPr id="154" name="Google Shape;154;p5"/>
          <p:cNvSpPr txBox="1"/>
          <p:nvPr/>
        </p:nvSpPr>
        <p:spPr>
          <a:xfrm>
            <a:off x="8366760" y="3383280"/>
            <a:ext cx="29260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2100"/>
              <a:buFont typeface="Arial"/>
              <a:buNone/>
            </a:pPr>
            <a:r>
              <a:rPr b="1" lang="en-US" sz="2100">
                <a:solidFill>
                  <a:srgbClr val="17261D"/>
                </a:solidFill>
                <a:latin typeface="Arial"/>
                <a:ea typeface="Arial"/>
                <a:cs typeface="Arial"/>
                <a:sym typeface="Arial"/>
              </a:rPr>
              <a:t>Economic development groups</a:t>
            </a:r>
            <a:endParaRPr sz="2100">
              <a:solidFill>
                <a:schemeClr val="dk1"/>
              </a:solidFill>
              <a:latin typeface="Calibri"/>
              <a:ea typeface="Calibri"/>
              <a:cs typeface="Calibri"/>
              <a:sym typeface="Calibri"/>
            </a:endParaRPr>
          </a:p>
        </p:txBody>
      </p:sp>
      <p:sp>
        <p:nvSpPr>
          <p:cNvPr id="155" name="Google Shape;155;p5"/>
          <p:cNvSpPr txBox="1"/>
          <p:nvPr/>
        </p:nvSpPr>
        <p:spPr>
          <a:xfrm>
            <a:off x="8366760" y="4251960"/>
            <a:ext cx="2926080" cy="16459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5E6B63"/>
              </a:buClr>
              <a:buSzPts val="1500"/>
              <a:buFont typeface="Calibri"/>
              <a:buChar char="•"/>
            </a:pPr>
            <a:r>
              <a:rPr lang="en-US" sz="1500">
                <a:solidFill>
                  <a:srgbClr val="5E6B63"/>
                </a:solidFill>
                <a:latin typeface="Calibri"/>
                <a:ea typeface="Calibri"/>
                <a:cs typeface="Calibri"/>
                <a:sym typeface="Calibri"/>
              </a:rPr>
              <a:t>Understand growth by location and industry.</a:t>
            </a:r>
            <a:endParaRPr sz="1500">
              <a:solidFill>
                <a:schemeClr val="dk1"/>
              </a:solidFill>
              <a:latin typeface="Calibri"/>
              <a:ea typeface="Calibri"/>
              <a:cs typeface="Calibri"/>
              <a:sym typeface="Calibri"/>
            </a:endParaRPr>
          </a:p>
          <a:p>
            <a:pPr indent="-203200" lvl="0" marL="203200" marR="0" rtl="0" algn="l">
              <a:spcBef>
                <a:spcPts val="1000"/>
              </a:spcBef>
              <a:spcAft>
                <a:spcPts val="0"/>
              </a:spcAft>
              <a:buClr>
                <a:srgbClr val="5E6B63"/>
              </a:buClr>
              <a:buSzPts val="1500"/>
              <a:buFont typeface="Calibri"/>
              <a:buChar char="•"/>
            </a:pPr>
            <a:r>
              <a:rPr lang="en-US" sz="1500">
                <a:solidFill>
                  <a:srgbClr val="5E6B63"/>
                </a:solidFill>
                <a:latin typeface="Calibri"/>
                <a:ea typeface="Calibri"/>
                <a:cs typeface="Calibri"/>
                <a:sym typeface="Calibri"/>
              </a:rPr>
              <a:t>Inform regional development priorities.</a:t>
            </a:r>
            <a:endParaRPr sz="1500">
              <a:solidFill>
                <a:schemeClr val="dk1"/>
              </a:solidFill>
              <a:latin typeface="Calibri"/>
              <a:ea typeface="Calibri"/>
              <a:cs typeface="Calibri"/>
              <a:sym typeface="Calibri"/>
            </a:endParaRPr>
          </a:p>
        </p:txBody>
      </p:sp>
      <p:sp>
        <p:nvSpPr>
          <p:cNvPr id="156" name="Google Shape;156;p5"/>
          <p:cNvSpPr txBox="1"/>
          <p:nvPr/>
        </p:nvSpPr>
        <p:spPr>
          <a:xfrm>
            <a:off x="548640" y="6263640"/>
            <a:ext cx="109728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i="1" lang="en-US" sz="1300">
                <a:solidFill>
                  <a:srgbClr val="5E6B63"/>
                </a:solidFill>
                <a:latin typeface="Calibri"/>
                <a:ea typeface="Calibri"/>
                <a:cs typeface="Calibri"/>
                <a:sym typeface="Calibri"/>
              </a:rPr>
              <a:t>Shared signals. Different views and scoring weights for each group.</a:t>
            </a:r>
            <a:endParaRPr sz="13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1"/>
        </a:solidFill>
      </p:bgPr>
    </p:bg>
    <p:spTree>
      <p:nvGrpSpPr>
        <p:cNvPr id="161" name="Shape 161"/>
        <p:cNvGrpSpPr/>
        <p:nvPr/>
      </p:nvGrpSpPr>
      <p:grpSpPr>
        <a:xfrm>
          <a:off x="0" y="0"/>
          <a:ext cx="0" cy="0"/>
          <a:chOff x="0" y="0"/>
          <a:chExt cx="0" cy="0"/>
        </a:xfrm>
      </p:grpSpPr>
      <p:sp>
        <p:nvSpPr>
          <p:cNvPr id="162" name="Google Shape;162;p6"/>
          <p:cNvSpPr/>
          <p:nvPr/>
        </p:nvSpPr>
        <p:spPr>
          <a:xfrm>
            <a:off x="548640" y="365760"/>
            <a:ext cx="1888236" cy="329184"/>
          </a:xfrm>
          <a:prstGeom prst="roundRect">
            <a:avLst>
              <a:gd fmla="val 50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6"/>
          <p:cNvSpPr txBox="1"/>
          <p:nvPr/>
        </p:nvSpPr>
        <p:spPr>
          <a:xfrm>
            <a:off x="548640" y="365760"/>
            <a:ext cx="188823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Ecosystem signals</a:t>
            </a:r>
            <a:endParaRPr sz="1100">
              <a:solidFill>
                <a:schemeClr val="dk1"/>
              </a:solidFill>
              <a:latin typeface="Calibri"/>
              <a:ea typeface="Calibri"/>
              <a:cs typeface="Calibri"/>
              <a:sym typeface="Calibri"/>
            </a:endParaRPr>
          </a:p>
        </p:txBody>
      </p:sp>
      <p:sp>
        <p:nvSpPr>
          <p:cNvPr id="164" name="Google Shape;164;p6"/>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200"/>
              <a:buFont typeface="Calibri"/>
              <a:buNone/>
            </a:pPr>
            <a:r>
              <a:rPr b="1" lang="en-US" sz="1200">
                <a:solidFill>
                  <a:srgbClr val="5E6B63"/>
                </a:solidFill>
                <a:latin typeface="Calibri"/>
                <a:ea typeface="Calibri"/>
                <a:cs typeface="Calibri"/>
                <a:sym typeface="Calibri"/>
              </a:rPr>
              <a:t>06</a:t>
            </a:r>
            <a:endParaRPr sz="1200">
              <a:solidFill>
                <a:schemeClr val="dk1"/>
              </a:solidFill>
              <a:latin typeface="Calibri"/>
              <a:ea typeface="Calibri"/>
              <a:cs typeface="Calibri"/>
              <a:sym typeface="Calibri"/>
            </a:endParaRPr>
          </a:p>
        </p:txBody>
      </p:sp>
      <p:sp>
        <p:nvSpPr>
          <p:cNvPr id="165" name="Google Shape;165;p6"/>
          <p:cNvSpPr txBox="1"/>
          <p:nvPr/>
        </p:nvSpPr>
        <p:spPr>
          <a:xfrm>
            <a:off x="548640" y="868680"/>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3600"/>
              <a:buFont typeface="Arial"/>
              <a:buNone/>
            </a:pPr>
            <a:r>
              <a:rPr b="1" lang="en-US" sz="3600">
                <a:solidFill>
                  <a:srgbClr val="17261D"/>
                </a:solidFill>
                <a:latin typeface="Arial"/>
                <a:ea typeface="Arial"/>
                <a:cs typeface="Arial"/>
                <a:sym typeface="Arial"/>
              </a:rPr>
              <a:t>The signals behind the score.</a:t>
            </a:r>
            <a:endParaRPr sz="3600">
              <a:solidFill>
                <a:schemeClr val="dk1"/>
              </a:solidFill>
              <a:latin typeface="Calibri"/>
              <a:ea typeface="Calibri"/>
              <a:cs typeface="Calibri"/>
              <a:sym typeface="Calibri"/>
            </a:endParaRPr>
          </a:p>
        </p:txBody>
      </p:sp>
      <p:sp>
        <p:nvSpPr>
          <p:cNvPr id="166" name="Google Shape;166;p6"/>
          <p:cNvSpPr/>
          <p:nvPr/>
        </p:nvSpPr>
        <p:spPr>
          <a:xfrm>
            <a:off x="548640" y="1828800"/>
            <a:ext cx="3474720" cy="1874520"/>
          </a:xfrm>
          <a:prstGeom prst="roundRect">
            <a:avLst>
              <a:gd fmla="val 8780"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6"/>
          <p:cNvSpPr/>
          <p:nvPr/>
        </p:nvSpPr>
        <p:spPr>
          <a:xfrm>
            <a:off x="822960" y="2103120"/>
            <a:ext cx="566928" cy="566928"/>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68" name="Google Shape;168;p6"/>
          <p:cNvPicPr preferRelativeResize="0"/>
          <p:nvPr/>
        </p:nvPicPr>
        <p:blipFill rotWithShape="1">
          <a:blip r:embed="rId3">
            <a:alphaModFix/>
          </a:blip>
          <a:srcRect b="0" l="0" r="0" t="0"/>
          <a:stretch/>
        </p:blipFill>
        <p:spPr>
          <a:xfrm>
            <a:off x="964692" y="2244852"/>
            <a:ext cx="283464" cy="283464"/>
          </a:xfrm>
          <a:prstGeom prst="rect">
            <a:avLst/>
          </a:prstGeom>
          <a:noFill/>
          <a:ln>
            <a:noFill/>
          </a:ln>
        </p:spPr>
      </p:pic>
      <p:sp>
        <p:nvSpPr>
          <p:cNvPr id="169" name="Google Shape;169;p6"/>
          <p:cNvSpPr txBox="1"/>
          <p:nvPr/>
        </p:nvSpPr>
        <p:spPr>
          <a:xfrm>
            <a:off x="1554480" y="2103120"/>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Funding</a:t>
            </a:r>
            <a:endParaRPr sz="1800">
              <a:solidFill>
                <a:schemeClr val="dk1"/>
              </a:solidFill>
              <a:latin typeface="Calibri"/>
              <a:ea typeface="Calibri"/>
              <a:cs typeface="Calibri"/>
              <a:sym typeface="Calibri"/>
            </a:endParaRPr>
          </a:p>
        </p:txBody>
      </p:sp>
      <p:sp>
        <p:nvSpPr>
          <p:cNvPr id="170" name="Google Shape;170;p6"/>
          <p:cNvSpPr txBox="1"/>
          <p:nvPr/>
        </p:nvSpPr>
        <p:spPr>
          <a:xfrm>
            <a:off x="822960" y="278892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400"/>
              <a:buFont typeface="Calibri"/>
              <a:buNone/>
            </a:pPr>
            <a:r>
              <a:rPr lang="en-US" sz="1400">
                <a:solidFill>
                  <a:srgbClr val="17261D"/>
                </a:solidFill>
                <a:latin typeface="Calibri"/>
                <a:ea typeface="Calibri"/>
                <a:cs typeface="Calibri"/>
                <a:sym typeface="Calibri"/>
              </a:rPr>
              <a:t>Capital raised and funding rounds</a:t>
            </a:r>
            <a:endParaRPr sz="1400">
              <a:solidFill>
                <a:schemeClr val="dk1"/>
              </a:solidFill>
              <a:latin typeface="Calibri"/>
              <a:ea typeface="Calibri"/>
              <a:cs typeface="Calibri"/>
              <a:sym typeface="Calibri"/>
            </a:endParaRPr>
          </a:p>
        </p:txBody>
      </p:sp>
      <p:sp>
        <p:nvSpPr>
          <p:cNvPr id="171" name="Google Shape;171;p6"/>
          <p:cNvSpPr/>
          <p:nvPr/>
        </p:nvSpPr>
        <p:spPr>
          <a:xfrm>
            <a:off x="822960" y="3182112"/>
            <a:ext cx="1143000" cy="292608"/>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6"/>
          <p:cNvSpPr txBox="1"/>
          <p:nvPr/>
        </p:nvSpPr>
        <p:spPr>
          <a:xfrm>
            <a:off x="822960" y="3182112"/>
            <a:ext cx="11430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050"/>
              <a:buFont typeface="Calibri"/>
              <a:buNone/>
            </a:pPr>
            <a:r>
              <a:rPr b="1" lang="en-US" sz="1050">
                <a:solidFill>
                  <a:srgbClr val="29593E"/>
                </a:solidFill>
                <a:latin typeface="Calibri"/>
                <a:ea typeface="Calibri"/>
                <a:cs typeface="Calibri"/>
                <a:sym typeface="Calibri"/>
              </a:rPr>
              <a:t>SEC Form D</a:t>
            </a:r>
            <a:endParaRPr sz="1050">
              <a:solidFill>
                <a:schemeClr val="dk1"/>
              </a:solidFill>
              <a:latin typeface="Calibri"/>
              <a:ea typeface="Calibri"/>
              <a:cs typeface="Calibri"/>
              <a:sym typeface="Calibri"/>
            </a:endParaRPr>
          </a:p>
        </p:txBody>
      </p:sp>
      <p:sp>
        <p:nvSpPr>
          <p:cNvPr id="173" name="Google Shape;173;p6"/>
          <p:cNvSpPr/>
          <p:nvPr/>
        </p:nvSpPr>
        <p:spPr>
          <a:xfrm>
            <a:off x="4297680" y="1828800"/>
            <a:ext cx="3474720" cy="1874520"/>
          </a:xfrm>
          <a:prstGeom prst="roundRect">
            <a:avLst>
              <a:gd fmla="val 8780"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6"/>
          <p:cNvSpPr/>
          <p:nvPr/>
        </p:nvSpPr>
        <p:spPr>
          <a:xfrm>
            <a:off x="4572000" y="2103120"/>
            <a:ext cx="566928" cy="566928"/>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5" name="Google Shape;175;p6"/>
          <p:cNvPicPr preferRelativeResize="0"/>
          <p:nvPr/>
        </p:nvPicPr>
        <p:blipFill rotWithShape="1">
          <a:blip r:embed="rId4">
            <a:alphaModFix/>
          </a:blip>
          <a:srcRect b="0" l="0" r="0" t="0"/>
          <a:stretch/>
        </p:blipFill>
        <p:spPr>
          <a:xfrm>
            <a:off x="4713732" y="2244852"/>
            <a:ext cx="283464" cy="283464"/>
          </a:xfrm>
          <a:prstGeom prst="rect">
            <a:avLst/>
          </a:prstGeom>
          <a:noFill/>
          <a:ln>
            <a:noFill/>
          </a:ln>
        </p:spPr>
      </p:pic>
      <p:sp>
        <p:nvSpPr>
          <p:cNvPr id="176" name="Google Shape;176;p6"/>
          <p:cNvSpPr txBox="1"/>
          <p:nvPr/>
        </p:nvSpPr>
        <p:spPr>
          <a:xfrm>
            <a:off x="5303520" y="2103120"/>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Grants</a:t>
            </a:r>
            <a:endParaRPr sz="1800">
              <a:solidFill>
                <a:schemeClr val="dk1"/>
              </a:solidFill>
              <a:latin typeface="Calibri"/>
              <a:ea typeface="Calibri"/>
              <a:cs typeface="Calibri"/>
              <a:sym typeface="Calibri"/>
            </a:endParaRPr>
          </a:p>
        </p:txBody>
      </p:sp>
      <p:sp>
        <p:nvSpPr>
          <p:cNvPr id="177" name="Google Shape;177;p6"/>
          <p:cNvSpPr txBox="1"/>
          <p:nvPr/>
        </p:nvSpPr>
        <p:spPr>
          <a:xfrm>
            <a:off x="4572000" y="278892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400"/>
              <a:buFont typeface="Calibri"/>
              <a:buNone/>
            </a:pPr>
            <a:r>
              <a:rPr lang="en-US" sz="1400">
                <a:solidFill>
                  <a:srgbClr val="17261D"/>
                </a:solidFill>
                <a:latin typeface="Calibri"/>
                <a:ea typeface="Calibri"/>
                <a:cs typeface="Calibri"/>
                <a:sym typeface="Calibri"/>
              </a:rPr>
              <a:t>Award dollars and program participation</a:t>
            </a:r>
            <a:endParaRPr sz="1400">
              <a:solidFill>
                <a:schemeClr val="dk1"/>
              </a:solidFill>
              <a:latin typeface="Calibri"/>
              <a:ea typeface="Calibri"/>
              <a:cs typeface="Calibri"/>
              <a:sym typeface="Calibri"/>
            </a:endParaRPr>
          </a:p>
        </p:txBody>
      </p:sp>
      <p:sp>
        <p:nvSpPr>
          <p:cNvPr id="178" name="Google Shape;178;p6"/>
          <p:cNvSpPr/>
          <p:nvPr/>
        </p:nvSpPr>
        <p:spPr>
          <a:xfrm>
            <a:off x="4572000" y="3182112"/>
            <a:ext cx="2231136" cy="292608"/>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6"/>
          <p:cNvSpPr txBox="1"/>
          <p:nvPr/>
        </p:nvSpPr>
        <p:spPr>
          <a:xfrm>
            <a:off x="4572000" y="3182112"/>
            <a:ext cx="223113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050"/>
              <a:buFont typeface="Calibri"/>
              <a:buNone/>
            </a:pPr>
            <a:r>
              <a:rPr b="1" lang="en-US" sz="1050">
                <a:solidFill>
                  <a:srgbClr val="29593E"/>
                </a:solidFill>
                <a:latin typeface="Calibri"/>
                <a:ea typeface="Calibri"/>
                <a:cs typeface="Calibri"/>
                <a:sym typeface="Calibri"/>
              </a:rPr>
              <a:t>SBIR · NIH · NSF · NJEDA</a:t>
            </a:r>
            <a:endParaRPr sz="1050">
              <a:solidFill>
                <a:schemeClr val="dk1"/>
              </a:solidFill>
              <a:latin typeface="Calibri"/>
              <a:ea typeface="Calibri"/>
              <a:cs typeface="Calibri"/>
              <a:sym typeface="Calibri"/>
            </a:endParaRPr>
          </a:p>
        </p:txBody>
      </p:sp>
      <p:sp>
        <p:nvSpPr>
          <p:cNvPr id="180" name="Google Shape;180;p6"/>
          <p:cNvSpPr/>
          <p:nvPr/>
        </p:nvSpPr>
        <p:spPr>
          <a:xfrm>
            <a:off x="8046720" y="1828800"/>
            <a:ext cx="3474720" cy="1874520"/>
          </a:xfrm>
          <a:prstGeom prst="roundRect">
            <a:avLst>
              <a:gd fmla="val 8780"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6"/>
          <p:cNvSpPr/>
          <p:nvPr/>
        </p:nvSpPr>
        <p:spPr>
          <a:xfrm>
            <a:off x="8321040" y="2103120"/>
            <a:ext cx="566928" cy="566928"/>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2" name="Google Shape;182;p6"/>
          <p:cNvPicPr preferRelativeResize="0"/>
          <p:nvPr/>
        </p:nvPicPr>
        <p:blipFill rotWithShape="1">
          <a:blip r:embed="rId5">
            <a:alphaModFix/>
          </a:blip>
          <a:srcRect b="0" l="0" r="0" t="0"/>
          <a:stretch/>
        </p:blipFill>
        <p:spPr>
          <a:xfrm>
            <a:off x="8462772" y="2244852"/>
            <a:ext cx="283464" cy="283464"/>
          </a:xfrm>
          <a:prstGeom prst="rect">
            <a:avLst/>
          </a:prstGeom>
          <a:noFill/>
          <a:ln>
            <a:noFill/>
          </a:ln>
        </p:spPr>
      </p:pic>
      <p:sp>
        <p:nvSpPr>
          <p:cNvPr id="183" name="Google Shape;183;p6"/>
          <p:cNvSpPr txBox="1"/>
          <p:nvPr/>
        </p:nvSpPr>
        <p:spPr>
          <a:xfrm>
            <a:off x="9052560" y="2103120"/>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Hiring</a:t>
            </a:r>
            <a:endParaRPr sz="1800">
              <a:solidFill>
                <a:schemeClr val="dk1"/>
              </a:solidFill>
              <a:latin typeface="Calibri"/>
              <a:ea typeface="Calibri"/>
              <a:cs typeface="Calibri"/>
              <a:sym typeface="Calibri"/>
            </a:endParaRPr>
          </a:p>
        </p:txBody>
      </p:sp>
      <p:sp>
        <p:nvSpPr>
          <p:cNvPr id="184" name="Google Shape;184;p6"/>
          <p:cNvSpPr txBox="1"/>
          <p:nvPr/>
        </p:nvSpPr>
        <p:spPr>
          <a:xfrm>
            <a:off x="8321040" y="278892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400"/>
              <a:buFont typeface="Calibri"/>
              <a:buNone/>
            </a:pPr>
            <a:r>
              <a:rPr lang="en-US" sz="1400">
                <a:solidFill>
                  <a:srgbClr val="17261D"/>
                </a:solidFill>
                <a:latin typeface="Calibri"/>
                <a:ea typeface="Calibri"/>
                <a:cs typeface="Calibri"/>
                <a:sym typeface="Calibri"/>
              </a:rPr>
              <a:t>Open roles and technical-role share</a:t>
            </a:r>
            <a:endParaRPr sz="1400">
              <a:solidFill>
                <a:schemeClr val="dk1"/>
              </a:solidFill>
              <a:latin typeface="Calibri"/>
              <a:ea typeface="Calibri"/>
              <a:cs typeface="Calibri"/>
              <a:sym typeface="Calibri"/>
            </a:endParaRPr>
          </a:p>
        </p:txBody>
      </p:sp>
      <p:sp>
        <p:nvSpPr>
          <p:cNvPr id="185" name="Google Shape;185;p6"/>
          <p:cNvSpPr/>
          <p:nvPr/>
        </p:nvSpPr>
        <p:spPr>
          <a:xfrm>
            <a:off x="8321040" y="3182112"/>
            <a:ext cx="1997964" cy="292608"/>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6"/>
          <p:cNvSpPr txBox="1"/>
          <p:nvPr/>
        </p:nvSpPr>
        <p:spPr>
          <a:xfrm>
            <a:off x="8321040" y="3182112"/>
            <a:ext cx="19979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050"/>
              <a:buFont typeface="Calibri"/>
              <a:buNone/>
            </a:pPr>
            <a:r>
              <a:rPr b="1" lang="en-US" sz="1050">
                <a:solidFill>
                  <a:srgbClr val="29593E"/>
                </a:solidFill>
                <a:latin typeface="Calibri"/>
                <a:ea typeface="Calibri"/>
                <a:cs typeface="Calibri"/>
                <a:sym typeface="Calibri"/>
              </a:rPr>
              <a:t>Job posting platforms</a:t>
            </a:r>
            <a:endParaRPr sz="1050">
              <a:solidFill>
                <a:schemeClr val="dk1"/>
              </a:solidFill>
              <a:latin typeface="Calibri"/>
              <a:ea typeface="Calibri"/>
              <a:cs typeface="Calibri"/>
              <a:sym typeface="Calibri"/>
            </a:endParaRPr>
          </a:p>
        </p:txBody>
      </p:sp>
      <p:sp>
        <p:nvSpPr>
          <p:cNvPr id="187" name="Google Shape;187;p6"/>
          <p:cNvSpPr/>
          <p:nvPr/>
        </p:nvSpPr>
        <p:spPr>
          <a:xfrm>
            <a:off x="548640" y="3931920"/>
            <a:ext cx="3474720" cy="1874520"/>
          </a:xfrm>
          <a:prstGeom prst="roundRect">
            <a:avLst>
              <a:gd fmla="val 8780"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6"/>
          <p:cNvSpPr/>
          <p:nvPr/>
        </p:nvSpPr>
        <p:spPr>
          <a:xfrm>
            <a:off x="822960" y="4206240"/>
            <a:ext cx="566928" cy="566928"/>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9" name="Google Shape;189;p6"/>
          <p:cNvPicPr preferRelativeResize="0"/>
          <p:nvPr/>
        </p:nvPicPr>
        <p:blipFill rotWithShape="1">
          <a:blip r:embed="rId6">
            <a:alphaModFix/>
          </a:blip>
          <a:srcRect b="0" l="0" r="0" t="0"/>
          <a:stretch/>
        </p:blipFill>
        <p:spPr>
          <a:xfrm>
            <a:off x="964692" y="4347972"/>
            <a:ext cx="283464" cy="283464"/>
          </a:xfrm>
          <a:prstGeom prst="rect">
            <a:avLst/>
          </a:prstGeom>
          <a:noFill/>
          <a:ln>
            <a:noFill/>
          </a:ln>
        </p:spPr>
      </p:pic>
      <p:sp>
        <p:nvSpPr>
          <p:cNvPr id="190" name="Google Shape;190;p6"/>
          <p:cNvSpPr txBox="1"/>
          <p:nvPr/>
        </p:nvSpPr>
        <p:spPr>
          <a:xfrm>
            <a:off x="1554480" y="4206240"/>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Intellectual property</a:t>
            </a:r>
            <a:endParaRPr sz="1800">
              <a:solidFill>
                <a:schemeClr val="dk1"/>
              </a:solidFill>
              <a:latin typeface="Calibri"/>
              <a:ea typeface="Calibri"/>
              <a:cs typeface="Calibri"/>
              <a:sym typeface="Calibri"/>
            </a:endParaRPr>
          </a:p>
        </p:txBody>
      </p:sp>
      <p:sp>
        <p:nvSpPr>
          <p:cNvPr id="191" name="Google Shape;191;p6"/>
          <p:cNvSpPr txBox="1"/>
          <p:nvPr/>
        </p:nvSpPr>
        <p:spPr>
          <a:xfrm>
            <a:off x="822960" y="489204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400"/>
              <a:buFont typeface="Calibri"/>
              <a:buNone/>
            </a:pPr>
            <a:r>
              <a:rPr lang="en-US" sz="1400">
                <a:solidFill>
                  <a:srgbClr val="17261D"/>
                </a:solidFill>
                <a:latin typeface="Calibri"/>
                <a:ea typeface="Calibri"/>
                <a:cs typeface="Calibri"/>
                <a:sym typeface="Calibri"/>
              </a:rPr>
              <a:t>Recent patent and trademark filings</a:t>
            </a:r>
            <a:endParaRPr sz="1400">
              <a:solidFill>
                <a:schemeClr val="dk1"/>
              </a:solidFill>
              <a:latin typeface="Calibri"/>
              <a:ea typeface="Calibri"/>
              <a:cs typeface="Calibri"/>
              <a:sym typeface="Calibri"/>
            </a:endParaRPr>
          </a:p>
        </p:txBody>
      </p:sp>
      <p:sp>
        <p:nvSpPr>
          <p:cNvPr id="192" name="Google Shape;192;p6"/>
          <p:cNvSpPr/>
          <p:nvPr/>
        </p:nvSpPr>
        <p:spPr>
          <a:xfrm>
            <a:off x="822960" y="5285232"/>
            <a:ext cx="2386584" cy="292608"/>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6"/>
          <p:cNvSpPr txBox="1"/>
          <p:nvPr/>
        </p:nvSpPr>
        <p:spPr>
          <a:xfrm>
            <a:off x="822960" y="5285232"/>
            <a:ext cx="238658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050"/>
              <a:buFont typeface="Calibri"/>
              <a:buNone/>
            </a:pPr>
            <a:r>
              <a:rPr b="1" lang="en-US" sz="1050">
                <a:solidFill>
                  <a:srgbClr val="29593E"/>
                </a:solidFill>
                <a:latin typeface="Calibri"/>
                <a:ea typeface="Calibri"/>
                <a:cs typeface="Calibri"/>
                <a:sym typeface="Calibri"/>
              </a:rPr>
              <a:t>Patent &amp; trademark records</a:t>
            </a:r>
            <a:endParaRPr sz="1050">
              <a:solidFill>
                <a:schemeClr val="dk1"/>
              </a:solidFill>
              <a:latin typeface="Calibri"/>
              <a:ea typeface="Calibri"/>
              <a:cs typeface="Calibri"/>
              <a:sym typeface="Calibri"/>
            </a:endParaRPr>
          </a:p>
        </p:txBody>
      </p:sp>
      <p:sp>
        <p:nvSpPr>
          <p:cNvPr id="194" name="Google Shape;194;p6"/>
          <p:cNvSpPr/>
          <p:nvPr/>
        </p:nvSpPr>
        <p:spPr>
          <a:xfrm>
            <a:off x="4297680" y="3931920"/>
            <a:ext cx="3474720" cy="1874520"/>
          </a:xfrm>
          <a:prstGeom prst="roundRect">
            <a:avLst>
              <a:gd fmla="val 8780"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6"/>
          <p:cNvSpPr/>
          <p:nvPr/>
        </p:nvSpPr>
        <p:spPr>
          <a:xfrm>
            <a:off x="4572000" y="4206240"/>
            <a:ext cx="566928" cy="566928"/>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6" name="Google Shape;196;p6"/>
          <p:cNvPicPr preferRelativeResize="0"/>
          <p:nvPr/>
        </p:nvPicPr>
        <p:blipFill rotWithShape="1">
          <a:blip r:embed="rId7">
            <a:alphaModFix/>
          </a:blip>
          <a:srcRect b="0" l="0" r="0" t="0"/>
          <a:stretch/>
        </p:blipFill>
        <p:spPr>
          <a:xfrm>
            <a:off x="4713732" y="4347972"/>
            <a:ext cx="283464" cy="283464"/>
          </a:xfrm>
          <a:prstGeom prst="rect">
            <a:avLst/>
          </a:prstGeom>
          <a:noFill/>
          <a:ln>
            <a:noFill/>
          </a:ln>
        </p:spPr>
      </p:pic>
      <p:sp>
        <p:nvSpPr>
          <p:cNvPr id="197" name="Google Shape;197;p6"/>
          <p:cNvSpPr txBox="1"/>
          <p:nvPr/>
        </p:nvSpPr>
        <p:spPr>
          <a:xfrm>
            <a:off x="5303520" y="4206240"/>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Accelerators</a:t>
            </a:r>
            <a:endParaRPr sz="1800">
              <a:solidFill>
                <a:schemeClr val="dk1"/>
              </a:solidFill>
              <a:latin typeface="Calibri"/>
              <a:ea typeface="Calibri"/>
              <a:cs typeface="Calibri"/>
              <a:sym typeface="Calibri"/>
            </a:endParaRPr>
          </a:p>
        </p:txBody>
      </p:sp>
      <p:sp>
        <p:nvSpPr>
          <p:cNvPr id="198" name="Google Shape;198;p6"/>
          <p:cNvSpPr txBox="1"/>
          <p:nvPr/>
        </p:nvSpPr>
        <p:spPr>
          <a:xfrm>
            <a:off x="4572000" y="489204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400"/>
              <a:buFont typeface="Calibri"/>
              <a:buNone/>
            </a:pPr>
            <a:r>
              <a:rPr lang="en-US" sz="1400">
                <a:solidFill>
                  <a:srgbClr val="17261D"/>
                </a:solidFill>
                <a:latin typeface="Calibri"/>
                <a:ea typeface="Calibri"/>
                <a:cs typeface="Calibri"/>
                <a:sym typeface="Calibri"/>
              </a:rPr>
              <a:t>Accelerator or incubator participation</a:t>
            </a:r>
            <a:endParaRPr sz="1400">
              <a:solidFill>
                <a:schemeClr val="dk1"/>
              </a:solidFill>
              <a:latin typeface="Calibri"/>
              <a:ea typeface="Calibri"/>
              <a:cs typeface="Calibri"/>
              <a:sym typeface="Calibri"/>
            </a:endParaRPr>
          </a:p>
        </p:txBody>
      </p:sp>
      <p:sp>
        <p:nvSpPr>
          <p:cNvPr id="199" name="Google Shape;199;p6"/>
          <p:cNvSpPr/>
          <p:nvPr/>
        </p:nvSpPr>
        <p:spPr>
          <a:xfrm>
            <a:off x="4572000" y="5285232"/>
            <a:ext cx="2231136" cy="292608"/>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6"/>
          <p:cNvSpPr txBox="1"/>
          <p:nvPr/>
        </p:nvSpPr>
        <p:spPr>
          <a:xfrm>
            <a:off x="4572000" y="5285232"/>
            <a:ext cx="223113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050"/>
              <a:buFont typeface="Calibri"/>
              <a:buNone/>
            </a:pPr>
            <a:r>
              <a:rPr b="1" lang="en-US" sz="1050">
                <a:solidFill>
                  <a:srgbClr val="29593E"/>
                </a:solidFill>
                <a:latin typeface="Calibri"/>
                <a:ea typeface="Calibri"/>
                <a:cs typeface="Calibri"/>
                <a:sym typeface="Calibri"/>
              </a:rPr>
              <a:t>Program &amp; event listings</a:t>
            </a:r>
            <a:endParaRPr sz="1050">
              <a:solidFill>
                <a:schemeClr val="dk1"/>
              </a:solidFill>
              <a:latin typeface="Calibri"/>
              <a:ea typeface="Calibri"/>
              <a:cs typeface="Calibri"/>
              <a:sym typeface="Calibri"/>
            </a:endParaRPr>
          </a:p>
        </p:txBody>
      </p:sp>
      <p:sp>
        <p:nvSpPr>
          <p:cNvPr id="201" name="Google Shape;201;p6"/>
          <p:cNvSpPr/>
          <p:nvPr/>
        </p:nvSpPr>
        <p:spPr>
          <a:xfrm>
            <a:off x="8046720" y="3931920"/>
            <a:ext cx="3474720" cy="1874520"/>
          </a:xfrm>
          <a:prstGeom prst="roundRect">
            <a:avLst>
              <a:gd fmla="val 8780"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6"/>
          <p:cNvSpPr/>
          <p:nvPr/>
        </p:nvSpPr>
        <p:spPr>
          <a:xfrm>
            <a:off x="8321040" y="4206240"/>
            <a:ext cx="566928" cy="566928"/>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03" name="Google Shape;203;p6"/>
          <p:cNvPicPr preferRelativeResize="0"/>
          <p:nvPr/>
        </p:nvPicPr>
        <p:blipFill rotWithShape="1">
          <a:blip r:embed="rId8">
            <a:alphaModFix/>
          </a:blip>
          <a:srcRect b="0" l="0" r="0" t="0"/>
          <a:stretch/>
        </p:blipFill>
        <p:spPr>
          <a:xfrm>
            <a:off x="8462772" y="4347972"/>
            <a:ext cx="283464" cy="283464"/>
          </a:xfrm>
          <a:prstGeom prst="rect">
            <a:avLst/>
          </a:prstGeom>
          <a:noFill/>
          <a:ln>
            <a:noFill/>
          </a:ln>
        </p:spPr>
      </p:pic>
      <p:sp>
        <p:nvSpPr>
          <p:cNvPr id="204" name="Google Shape;204;p6"/>
          <p:cNvSpPr txBox="1"/>
          <p:nvPr/>
        </p:nvSpPr>
        <p:spPr>
          <a:xfrm>
            <a:off x="9052560" y="4206240"/>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Public support</a:t>
            </a:r>
            <a:endParaRPr sz="1800">
              <a:solidFill>
                <a:schemeClr val="dk1"/>
              </a:solidFill>
              <a:latin typeface="Calibri"/>
              <a:ea typeface="Calibri"/>
              <a:cs typeface="Calibri"/>
              <a:sym typeface="Calibri"/>
            </a:endParaRPr>
          </a:p>
        </p:txBody>
      </p:sp>
      <p:sp>
        <p:nvSpPr>
          <p:cNvPr id="205" name="Google Shape;205;p6"/>
          <p:cNvSpPr txBox="1"/>
          <p:nvPr/>
        </p:nvSpPr>
        <p:spPr>
          <a:xfrm>
            <a:off x="8321040" y="489204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400"/>
              <a:buFont typeface="Calibri"/>
              <a:buNone/>
            </a:pPr>
            <a:r>
              <a:rPr lang="en-US" sz="1400">
                <a:solidFill>
                  <a:srgbClr val="17261D"/>
                </a:solidFill>
                <a:latin typeface="Calibri"/>
                <a:ea typeface="Calibri"/>
                <a:cs typeface="Calibri"/>
                <a:sym typeface="Calibri"/>
              </a:rPr>
              <a:t>Programs, awards, and press</a:t>
            </a:r>
            <a:endParaRPr sz="1400">
              <a:solidFill>
                <a:schemeClr val="dk1"/>
              </a:solidFill>
              <a:latin typeface="Calibri"/>
              <a:ea typeface="Calibri"/>
              <a:cs typeface="Calibri"/>
              <a:sym typeface="Calibri"/>
            </a:endParaRPr>
          </a:p>
        </p:txBody>
      </p:sp>
      <p:sp>
        <p:nvSpPr>
          <p:cNvPr id="206" name="Google Shape;206;p6"/>
          <p:cNvSpPr/>
          <p:nvPr/>
        </p:nvSpPr>
        <p:spPr>
          <a:xfrm>
            <a:off x="8321040" y="5285232"/>
            <a:ext cx="2542032" cy="292608"/>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6"/>
          <p:cNvSpPr txBox="1"/>
          <p:nvPr/>
        </p:nvSpPr>
        <p:spPr>
          <a:xfrm>
            <a:off x="8321040" y="5285232"/>
            <a:ext cx="254203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050"/>
              <a:buFont typeface="Calibri"/>
              <a:buNone/>
            </a:pPr>
            <a:r>
              <a:rPr b="1" lang="en-US" sz="1050">
                <a:solidFill>
                  <a:srgbClr val="29593E"/>
                </a:solidFill>
                <a:latin typeface="Calibri"/>
                <a:ea typeface="Calibri"/>
                <a:cs typeface="Calibri"/>
                <a:sym typeface="Calibri"/>
              </a:rPr>
              <a:t>NJEDA &amp; other public sources</a:t>
            </a:r>
            <a:endParaRPr sz="1050">
              <a:solidFill>
                <a:schemeClr val="dk1"/>
              </a:solidFill>
              <a:latin typeface="Calibri"/>
              <a:ea typeface="Calibri"/>
              <a:cs typeface="Calibri"/>
              <a:sym typeface="Calibri"/>
            </a:endParaRPr>
          </a:p>
        </p:txBody>
      </p:sp>
      <p:sp>
        <p:nvSpPr>
          <p:cNvPr id="208" name="Google Shape;208;p6"/>
          <p:cNvSpPr txBox="1"/>
          <p:nvPr/>
        </p:nvSpPr>
        <p:spPr>
          <a:xfrm>
            <a:off x="548640" y="6172200"/>
            <a:ext cx="109728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i="1" lang="en-US" sz="1300">
                <a:solidFill>
                  <a:srgbClr val="5E6B63"/>
                </a:solidFill>
                <a:latin typeface="Calibri"/>
                <a:ea typeface="Calibri"/>
                <a:cs typeface="Calibri"/>
                <a:sym typeface="Calibri"/>
              </a:rPr>
              <a:t>Public and permissioned data, with sample data clearly labeled.</a:t>
            </a:r>
            <a:endParaRPr sz="13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1"/>
        </a:solidFill>
      </p:bgPr>
    </p:bg>
    <p:spTree>
      <p:nvGrpSpPr>
        <p:cNvPr id="213" name="Shape 213"/>
        <p:cNvGrpSpPr/>
        <p:nvPr/>
      </p:nvGrpSpPr>
      <p:grpSpPr>
        <a:xfrm>
          <a:off x="0" y="0"/>
          <a:ext cx="0" cy="0"/>
          <a:chOff x="0" y="0"/>
          <a:chExt cx="0" cy="0"/>
        </a:xfrm>
      </p:grpSpPr>
      <p:sp>
        <p:nvSpPr>
          <p:cNvPr id="214" name="Google Shape;214;p7"/>
          <p:cNvSpPr/>
          <p:nvPr/>
        </p:nvSpPr>
        <p:spPr>
          <a:xfrm>
            <a:off x="548640" y="365760"/>
            <a:ext cx="1888236" cy="329184"/>
          </a:xfrm>
          <a:prstGeom prst="roundRect">
            <a:avLst>
              <a:gd fmla="val 50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7"/>
          <p:cNvSpPr txBox="1"/>
          <p:nvPr/>
        </p:nvSpPr>
        <p:spPr>
          <a:xfrm>
            <a:off x="548640" y="365760"/>
            <a:ext cx="188823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Map &amp; ranked list</a:t>
            </a:r>
            <a:endParaRPr sz="1100">
              <a:solidFill>
                <a:schemeClr val="dk1"/>
              </a:solidFill>
              <a:latin typeface="Calibri"/>
              <a:ea typeface="Calibri"/>
              <a:cs typeface="Calibri"/>
              <a:sym typeface="Calibri"/>
            </a:endParaRPr>
          </a:p>
        </p:txBody>
      </p:sp>
      <p:sp>
        <p:nvSpPr>
          <p:cNvPr id="216" name="Google Shape;216;p7"/>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200"/>
              <a:buFont typeface="Calibri"/>
              <a:buNone/>
            </a:pPr>
            <a:r>
              <a:rPr b="1" lang="en-US" sz="1200">
                <a:solidFill>
                  <a:srgbClr val="5E6B63"/>
                </a:solidFill>
                <a:latin typeface="Calibri"/>
                <a:ea typeface="Calibri"/>
                <a:cs typeface="Calibri"/>
                <a:sym typeface="Calibri"/>
              </a:rPr>
              <a:t>07</a:t>
            </a:r>
            <a:endParaRPr sz="1200">
              <a:solidFill>
                <a:schemeClr val="dk1"/>
              </a:solidFill>
              <a:latin typeface="Calibri"/>
              <a:ea typeface="Calibri"/>
              <a:cs typeface="Calibri"/>
              <a:sym typeface="Calibri"/>
            </a:endParaRPr>
          </a:p>
        </p:txBody>
      </p:sp>
      <p:sp>
        <p:nvSpPr>
          <p:cNvPr id="217" name="Google Shape;217;p7"/>
          <p:cNvSpPr txBox="1"/>
          <p:nvPr/>
        </p:nvSpPr>
        <p:spPr>
          <a:xfrm>
            <a:off x="548640" y="868680"/>
            <a:ext cx="100584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3600"/>
              <a:buFont typeface="Arial"/>
              <a:buNone/>
            </a:pPr>
            <a:r>
              <a:rPr b="1" lang="en-US" sz="3600">
                <a:solidFill>
                  <a:srgbClr val="17261D"/>
                </a:solidFill>
                <a:latin typeface="Arial"/>
                <a:ea typeface="Arial"/>
                <a:cs typeface="Arial"/>
                <a:sym typeface="Arial"/>
              </a:rPr>
              <a:t>Explore the ecosystem.</a:t>
            </a:r>
            <a:endParaRPr sz="3600">
              <a:solidFill>
                <a:schemeClr val="dk1"/>
              </a:solidFill>
              <a:latin typeface="Calibri"/>
              <a:ea typeface="Calibri"/>
              <a:cs typeface="Calibri"/>
              <a:sym typeface="Calibri"/>
            </a:endParaRPr>
          </a:p>
        </p:txBody>
      </p:sp>
      <p:sp>
        <p:nvSpPr>
          <p:cNvPr id="218" name="Google Shape;218;p7"/>
          <p:cNvSpPr/>
          <p:nvPr/>
        </p:nvSpPr>
        <p:spPr>
          <a:xfrm>
            <a:off x="493776" y="1728216"/>
            <a:ext cx="8065008" cy="4178377"/>
          </a:xfrm>
          <a:prstGeom prst="roundRect">
            <a:avLst>
              <a:gd fmla="val 2188"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app.png" id="219" name="Google Shape;219;p7"/>
          <p:cNvPicPr preferRelativeResize="0"/>
          <p:nvPr/>
        </p:nvPicPr>
        <p:blipFill rotWithShape="1">
          <a:blip r:embed="rId3">
            <a:alphaModFix/>
          </a:blip>
          <a:srcRect b="0" l="0" r="0" t="0"/>
          <a:stretch/>
        </p:blipFill>
        <p:spPr>
          <a:xfrm>
            <a:off x="548640" y="1783080"/>
            <a:ext cx="7955280" cy="4068649"/>
          </a:xfrm>
          <a:prstGeom prst="rect">
            <a:avLst/>
          </a:prstGeom>
          <a:noFill/>
          <a:ln>
            <a:noFill/>
          </a:ln>
        </p:spPr>
      </p:pic>
      <p:sp>
        <p:nvSpPr>
          <p:cNvPr id="220" name="Google Shape;220;p7"/>
          <p:cNvSpPr/>
          <p:nvPr/>
        </p:nvSpPr>
        <p:spPr>
          <a:xfrm>
            <a:off x="548640" y="6080329"/>
            <a:ext cx="2468880" cy="310896"/>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7"/>
          <p:cNvSpPr txBox="1"/>
          <p:nvPr/>
        </p:nvSpPr>
        <p:spPr>
          <a:xfrm>
            <a:off x="548640" y="6080329"/>
            <a:ext cx="24688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050"/>
              <a:buFont typeface="Calibri"/>
              <a:buNone/>
            </a:pPr>
            <a:r>
              <a:rPr b="1" lang="en-US" sz="1050">
                <a:solidFill>
                  <a:srgbClr val="29593E"/>
                </a:solidFill>
                <a:latin typeface="Calibri"/>
                <a:ea typeface="Calibri"/>
                <a:cs typeface="Calibri"/>
                <a:sym typeface="Calibri"/>
              </a:rPr>
              <a:t>Concept preview · Sample data</a:t>
            </a:r>
            <a:endParaRPr sz="1050">
              <a:solidFill>
                <a:schemeClr val="dk1"/>
              </a:solidFill>
              <a:latin typeface="Calibri"/>
              <a:ea typeface="Calibri"/>
              <a:cs typeface="Calibri"/>
              <a:sym typeface="Calibri"/>
            </a:endParaRPr>
          </a:p>
        </p:txBody>
      </p:sp>
      <p:sp>
        <p:nvSpPr>
          <p:cNvPr id="222" name="Google Shape;222;p7"/>
          <p:cNvSpPr/>
          <p:nvPr/>
        </p:nvSpPr>
        <p:spPr>
          <a:xfrm>
            <a:off x="8869680" y="178308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3" name="Google Shape;223;p7"/>
          <p:cNvPicPr preferRelativeResize="0"/>
          <p:nvPr/>
        </p:nvPicPr>
        <p:blipFill rotWithShape="1">
          <a:blip r:embed="rId4">
            <a:alphaModFix/>
          </a:blip>
          <a:srcRect b="0" l="0" r="0" t="0"/>
          <a:stretch/>
        </p:blipFill>
        <p:spPr>
          <a:xfrm>
            <a:off x="9006840" y="1920240"/>
            <a:ext cx="274320" cy="274320"/>
          </a:xfrm>
          <a:prstGeom prst="rect">
            <a:avLst/>
          </a:prstGeom>
          <a:noFill/>
          <a:ln>
            <a:noFill/>
          </a:ln>
        </p:spPr>
      </p:pic>
      <p:sp>
        <p:nvSpPr>
          <p:cNvPr id="224" name="Google Shape;224;p7"/>
          <p:cNvSpPr txBox="1"/>
          <p:nvPr/>
        </p:nvSpPr>
        <p:spPr>
          <a:xfrm>
            <a:off x="9601200" y="1801368"/>
            <a:ext cx="21945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Mapbox map</a:t>
            </a:r>
            <a:endParaRPr sz="1800">
              <a:solidFill>
                <a:schemeClr val="dk1"/>
              </a:solidFill>
              <a:latin typeface="Calibri"/>
              <a:ea typeface="Calibri"/>
              <a:cs typeface="Calibri"/>
              <a:sym typeface="Calibri"/>
            </a:endParaRPr>
          </a:p>
        </p:txBody>
      </p:sp>
      <p:sp>
        <p:nvSpPr>
          <p:cNvPr id="225" name="Google Shape;225;p7"/>
          <p:cNvSpPr txBox="1"/>
          <p:nvPr/>
        </p:nvSpPr>
        <p:spPr>
          <a:xfrm>
            <a:off x="9601200" y="2194560"/>
            <a:ext cx="21945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50"/>
              <a:buFont typeface="Calibri"/>
              <a:buNone/>
            </a:pPr>
            <a:r>
              <a:rPr lang="en-US" sz="1350">
                <a:solidFill>
                  <a:srgbClr val="5E6B63"/>
                </a:solidFill>
                <a:latin typeface="Calibri"/>
                <a:ea typeface="Calibri"/>
                <a:cs typeface="Calibri"/>
                <a:sym typeface="Calibri"/>
              </a:rPr>
              <a:t>Pin color = sector</a:t>
            </a:r>
            <a:endParaRPr sz="1350">
              <a:solidFill>
                <a:schemeClr val="dk1"/>
              </a:solidFill>
              <a:latin typeface="Calibri"/>
              <a:ea typeface="Calibri"/>
              <a:cs typeface="Calibri"/>
              <a:sym typeface="Calibri"/>
            </a:endParaRPr>
          </a:p>
          <a:p>
            <a:pPr indent="0" lvl="0" marL="0" marR="0" rtl="0" algn="l">
              <a:spcBef>
                <a:spcPts val="0"/>
              </a:spcBef>
              <a:spcAft>
                <a:spcPts val="0"/>
              </a:spcAft>
              <a:buClr>
                <a:srgbClr val="5E6B63"/>
              </a:buClr>
              <a:buSzPts val="1350"/>
              <a:buFont typeface="Calibri"/>
              <a:buNone/>
            </a:pPr>
            <a:r>
              <a:rPr lang="en-US" sz="1350">
                <a:solidFill>
                  <a:srgbClr val="5E6B63"/>
                </a:solidFill>
                <a:latin typeface="Calibri"/>
                <a:ea typeface="Calibri"/>
                <a:cs typeface="Calibri"/>
                <a:sym typeface="Calibri"/>
              </a:rPr>
              <a:t>Pin size = score</a:t>
            </a:r>
            <a:endParaRPr sz="1350">
              <a:solidFill>
                <a:schemeClr val="dk1"/>
              </a:solidFill>
              <a:latin typeface="Calibri"/>
              <a:ea typeface="Calibri"/>
              <a:cs typeface="Calibri"/>
              <a:sym typeface="Calibri"/>
            </a:endParaRPr>
          </a:p>
        </p:txBody>
      </p:sp>
      <p:sp>
        <p:nvSpPr>
          <p:cNvPr id="226" name="Google Shape;226;p7"/>
          <p:cNvSpPr/>
          <p:nvPr/>
        </p:nvSpPr>
        <p:spPr>
          <a:xfrm>
            <a:off x="8869680" y="324612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7" name="Google Shape;227;p7"/>
          <p:cNvPicPr preferRelativeResize="0"/>
          <p:nvPr/>
        </p:nvPicPr>
        <p:blipFill rotWithShape="1">
          <a:blip r:embed="rId5">
            <a:alphaModFix/>
          </a:blip>
          <a:srcRect b="0" l="0" r="0" t="0"/>
          <a:stretch/>
        </p:blipFill>
        <p:spPr>
          <a:xfrm>
            <a:off x="9006840" y="3383280"/>
            <a:ext cx="274320" cy="274320"/>
          </a:xfrm>
          <a:prstGeom prst="rect">
            <a:avLst/>
          </a:prstGeom>
          <a:noFill/>
          <a:ln>
            <a:noFill/>
          </a:ln>
        </p:spPr>
      </p:pic>
      <p:sp>
        <p:nvSpPr>
          <p:cNvPr id="228" name="Google Shape;228;p7"/>
          <p:cNvSpPr txBox="1"/>
          <p:nvPr/>
        </p:nvSpPr>
        <p:spPr>
          <a:xfrm>
            <a:off x="9601200" y="3264408"/>
            <a:ext cx="21945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Ranked list</a:t>
            </a:r>
            <a:endParaRPr sz="1800">
              <a:solidFill>
                <a:schemeClr val="dk1"/>
              </a:solidFill>
              <a:latin typeface="Calibri"/>
              <a:ea typeface="Calibri"/>
              <a:cs typeface="Calibri"/>
              <a:sym typeface="Calibri"/>
            </a:endParaRPr>
          </a:p>
        </p:txBody>
      </p:sp>
      <p:sp>
        <p:nvSpPr>
          <p:cNvPr id="229" name="Google Shape;229;p7"/>
          <p:cNvSpPr txBox="1"/>
          <p:nvPr/>
        </p:nvSpPr>
        <p:spPr>
          <a:xfrm>
            <a:off x="9601200" y="3657600"/>
            <a:ext cx="21945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50"/>
              <a:buFont typeface="Calibri"/>
              <a:buNone/>
            </a:pPr>
            <a:r>
              <a:rPr lang="en-US" sz="1350">
                <a:solidFill>
                  <a:srgbClr val="5E6B63"/>
                </a:solidFill>
                <a:latin typeface="Calibri"/>
                <a:ea typeface="Calibri"/>
                <a:cs typeface="Calibri"/>
                <a:sym typeface="Calibri"/>
              </a:rPr>
              <a:t>Rank, name, sector,</a:t>
            </a:r>
            <a:endParaRPr sz="1350">
              <a:solidFill>
                <a:schemeClr val="dk1"/>
              </a:solidFill>
              <a:latin typeface="Calibri"/>
              <a:ea typeface="Calibri"/>
              <a:cs typeface="Calibri"/>
              <a:sym typeface="Calibri"/>
            </a:endParaRPr>
          </a:p>
          <a:p>
            <a:pPr indent="0" lvl="0" marL="0" marR="0" rtl="0" algn="l">
              <a:spcBef>
                <a:spcPts val="0"/>
              </a:spcBef>
              <a:spcAft>
                <a:spcPts val="0"/>
              </a:spcAft>
              <a:buClr>
                <a:srgbClr val="5E6B63"/>
              </a:buClr>
              <a:buSzPts val="1350"/>
              <a:buFont typeface="Calibri"/>
              <a:buNone/>
            </a:pPr>
            <a:r>
              <a:rPr lang="en-US" sz="1350">
                <a:solidFill>
                  <a:srgbClr val="5E6B63"/>
                </a:solidFill>
                <a:latin typeface="Calibri"/>
                <a:ea typeface="Calibri"/>
                <a:cs typeface="Calibri"/>
                <a:sym typeface="Calibri"/>
              </a:rPr>
              <a:t>city, and score</a:t>
            </a:r>
            <a:endParaRPr sz="1350">
              <a:solidFill>
                <a:schemeClr val="dk1"/>
              </a:solidFill>
              <a:latin typeface="Calibri"/>
              <a:ea typeface="Calibri"/>
              <a:cs typeface="Calibri"/>
              <a:sym typeface="Calibri"/>
            </a:endParaRPr>
          </a:p>
        </p:txBody>
      </p:sp>
      <p:sp>
        <p:nvSpPr>
          <p:cNvPr id="230" name="Google Shape;230;p7"/>
          <p:cNvSpPr/>
          <p:nvPr/>
        </p:nvSpPr>
        <p:spPr>
          <a:xfrm>
            <a:off x="8869680" y="470916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31" name="Google Shape;231;p7"/>
          <p:cNvPicPr preferRelativeResize="0"/>
          <p:nvPr/>
        </p:nvPicPr>
        <p:blipFill rotWithShape="1">
          <a:blip r:embed="rId6">
            <a:alphaModFix/>
          </a:blip>
          <a:srcRect b="0" l="0" r="0" t="0"/>
          <a:stretch/>
        </p:blipFill>
        <p:spPr>
          <a:xfrm>
            <a:off x="9006840" y="4846320"/>
            <a:ext cx="274320" cy="274320"/>
          </a:xfrm>
          <a:prstGeom prst="rect">
            <a:avLst/>
          </a:prstGeom>
          <a:noFill/>
          <a:ln>
            <a:noFill/>
          </a:ln>
        </p:spPr>
      </p:pic>
      <p:sp>
        <p:nvSpPr>
          <p:cNvPr id="232" name="Google Shape;232;p7"/>
          <p:cNvSpPr txBox="1"/>
          <p:nvPr/>
        </p:nvSpPr>
        <p:spPr>
          <a:xfrm>
            <a:off x="9601200" y="4727448"/>
            <a:ext cx="21945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Zoom &amp; layers</a:t>
            </a:r>
            <a:endParaRPr sz="1800">
              <a:solidFill>
                <a:schemeClr val="dk1"/>
              </a:solidFill>
              <a:latin typeface="Calibri"/>
              <a:ea typeface="Calibri"/>
              <a:cs typeface="Calibri"/>
              <a:sym typeface="Calibri"/>
            </a:endParaRPr>
          </a:p>
        </p:txBody>
      </p:sp>
      <p:sp>
        <p:nvSpPr>
          <p:cNvPr id="233" name="Google Shape;233;p7"/>
          <p:cNvSpPr txBox="1"/>
          <p:nvPr/>
        </p:nvSpPr>
        <p:spPr>
          <a:xfrm>
            <a:off x="9601200" y="5120640"/>
            <a:ext cx="21945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50"/>
              <a:buFont typeface="Calibri"/>
              <a:buNone/>
            </a:pPr>
            <a:r>
              <a:rPr lang="en-US" sz="1350">
                <a:solidFill>
                  <a:srgbClr val="5E6B63"/>
                </a:solidFill>
                <a:latin typeface="Calibri"/>
                <a:ea typeface="Calibri"/>
                <a:cs typeface="Calibri"/>
                <a:sym typeface="Calibri"/>
              </a:rPr>
              <a:t>Cluster pins on zoom-out.</a:t>
            </a:r>
            <a:endParaRPr sz="1350">
              <a:solidFill>
                <a:schemeClr val="dk1"/>
              </a:solidFill>
              <a:latin typeface="Calibri"/>
              <a:ea typeface="Calibri"/>
              <a:cs typeface="Calibri"/>
              <a:sym typeface="Calibri"/>
            </a:endParaRPr>
          </a:p>
          <a:p>
            <a:pPr indent="0" lvl="0" marL="0" marR="0" rtl="0" algn="l">
              <a:spcBef>
                <a:spcPts val="0"/>
              </a:spcBef>
              <a:spcAft>
                <a:spcPts val="0"/>
              </a:spcAft>
              <a:buClr>
                <a:srgbClr val="5E6B63"/>
              </a:buClr>
              <a:buSzPts val="1350"/>
              <a:buFont typeface="Calibri"/>
              <a:buNone/>
            </a:pPr>
            <a:r>
              <a:rPr lang="en-US" sz="1350">
                <a:solidFill>
                  <a:srgbClr val="5E6B63"/>
                </a:solidFill>
                <a:latin typeface="Calibri"/>
                <a:ea typeface="Calibri"/>
                <a:cs typeface="Calibri"/>
                <a:sym typeface="Calibri"/>
              </a:rPr>
              <a:t>Optional county heatmap.</a:t>
            </a:r>
            <a:endParaRPr sz="13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1"/>
        </a:solidFill>
      </p:bgPr>
    </p:bg>
    <p:spTree>
      <p:nvGrpSpPr>
        <p:cNvPr id="238" name="Shape 238"/>
        <p:cNvGrpSpPr/>
        <p:nvPr/>
      </p:nvGrpSpPr>
      <p:grpSpPr>
        <a:xfrm>
          <a:off x="0" y="0"/>
          <a:ext cx="0" cy="0"/>
          <a:chOff x="0" y="0"/>
          <a:chExt cx="0" cy="0"/>
        </a:xfrm>
      </p:grpSpPr>
      <p:sp>
        <p:nvSpPr>
          <p:cNvPr id="239" name="Google Shape;239;p8"/>
          <p:cNvSpPr/>
          <p:nvPr/>
        </p:nvSpPr>
        <p:spPr>
          <a:xfrm>
            <a:off x="548640" y="365760"/>
            <a:ext cx="2843784" cy="329184"/>
          </a:xfrm>
          <a:prstGeom prst="roundRect">
            <a:avLst>
              <a:gd fmla="val 50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8"/>
          <p:cNvSpPr txBox="1"/>
          <p:nvPr/>
        </p:nvSpPr>
        <p:spPr>
          <a:xfrm>
            <a:off x="548640" y="365760"/>
            <a:ext cx="28437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Discovery &amp; company profiles</a:t>
            </a:r>
            <a:endParaRPr sz="1100">
              <a:solidFill>
                <a:schemeClr val="dk1"/>
              </a:solidFill>
              <a:latin typeface="Calibri"/>
              <a:ea typeface="Calibri"/>
              <a:cs typeface="Calibri"/>
              <a:sym typeface="Calibri"/>
            </a:endParaRPr>
          </a:p>
        </p:txBody>
      </p:sp>
      <p:sp>
        <p:nvSpPr>
          <p:cNvPr id="241" name="Google Shape;241;p8"/>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200"/>
              <a:buFont typeface="Calibri"/>
              <a:buNone/>
            </a:pPr>
            <a:r>
              <a:rPr b="1" lang="en-US" sz="1200">
                <a:solidFill>
                  <a:srgbClr val="5E6B63"/>
                </a:solidFill>
                <a:latin typeface="Calibri"/>
                <a:ea typeface="Calibri"/>
                <a:cs typeface="Calibri"/>
                <a:sym typeface="Calibri"/>
              </a:rPr>
              <a:t>08</a:t>
            </a:r>
            <a:endParaRPr sz="1200">
              <a:solidFill>
                <a:schemeClr val="dk1"/>
              </a:solidFill>
              <a:latin typeface="Calibri"/>
              <a:ea typeface="Calibri"/>
              <a:cs typeface="Calibri"/>
              <a:sym typeface="Calibri"/>
            </a:endParaRPr>
          </a:p>
        </p:txBody>
      </p:sp>
      <p:sp>
        <p:nvSpPr>
          <p:cNvPr id="242" name="Google Shape;242;p8"/>
          <p:cNvSpPr txBox="1"/>
          <p:nvPr/>
        </p:nvSpPr>
        <p:spPr>
          <a:xfrm>
            <a:off x="548640" y="868680"/>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3600"/>
              <a:buFont typeface="Arial"/>
              <a:buNone/>
            </a:pPr>
            <a:r>
              <a:rPr b="1" lang="en-US" sz="3600">
                <a:solidFill>
                  <a:srgbClr val="17261D"/>
                </a:solidFill>
                <a:latin typeface="Arial"/>
                <a:ea typeface="Arial"/>
                <a:cs typeface="Arial"/>
                <a:sym typeface="Arial"/>
              </a:rPr>
              <a:t>A closer look at each company.</a:t>
            </a:r>
            <a:endParaRPr sz="3600">
              <a:solidFill>
                <a:schemeClr val="dk1"/>
              </a:solidFill>
              <a:latin typeface="Calibri"/>
              <a:ea typeface="Calibri"/>
              <a:cs typeface="Calibri"/>
              <a:sym typeface="Calibri"/>
            </a:endParaRPr>
          </a:p>
        </p:txBody>
      </p:sp>
      <p:cxnSp>
        <p:nvCxnSpPr>
          <p:cNvPr id="243" name="Google Shape;243;p8"/>
          <p:cNvCxnSpPr/>
          <p:nvPr/>
        </p:nvCxnSpPr>
        <p:spPr>
          <a:xfrm>
            <a:off x="1463040" y="2514600"/>
            <a:ext cx="7498080" cy="0"/>
          </a:xfrm>
          <a:prstGeom prst="straightConnector1">
            <a:avLst/>
          </a:prstGeom>
          <a:noFill/>
          <a:ln cap="flat" cmpd="sng" w="25400">
            <a:solidFill>
              <a:srgbClr val="B9CDBE"/>
            </a:solidFill>
            <a:prstDash val="dash"/>
            <a:round/>
            <a:headEnd len="sm" w="sm" type="none"/>
            <a:tailEnd len="sm" w="sm" type="none"/>
          </a:ln>
        </p:spPr>
      </p:cxnSp>
      <p:sp>
        <p:nvSpPr>
          <p:cNvPr id="244" name="Google Shape;244;p8"/>
          <p:cNvSpPr/>
          <p:nvPr/>
        </p:nvSpPr>
        <p:spPr>
          <a:xfrm>
            <a:off x="731520" y="1874520"/>
            <a:ext cx="1280160" cy="1280160"/>
          </a:xfrm>
          <a:prstGeom prst="ellipse">
            <a:avLst/>
          </a:prstGeom>
          <a:solidFill>
            <a:srgbClr val="FFFFFF"/>
          </a:solidFill>
          <a:ln cap="flat" cmpd="sng" w="12700">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5" name="Google Shape;245;p8"/>
          <p:cNvPicPr preferRelativeResize="0"/>
          <p:nvPr/>
        </p:nvPicPr>
        <p:blipFill rotWithShape="1">
          <a:blip r:embed="rId3">
            <a:alphaModFix/>
          </a:blip>
          <a:srcRect b="0" l="0" r="0" t="0"/>
          <a:stretch/>
        </p:blipFill>
        <p:spPr>
          <a:xfrm>
            <a:off x="1115568" y="2258568"/>
            <a:ext cx="512064" cy="512064"/>
          </a:xfrm>
          <a:prstGeom prst="rect">
            <a:avLst/>
          </a:prstGeom>
          <a:noFill/>
          <a:ln>
            <a:noFill/>
          </a:ln>
        </p:spPr>
      </p:pic>
      <p:sp>
        <p:nvSpPr>
          <p:cNvPr id="246" name="Google Shape;246;p8"/>
          <p:cNvSpPr txBox="1"/>
          <p:nvPr/>
        </p:nvSpPr>
        <p:spPr>
          <a:xfrm>
            <a:off x="731520" y="3429000"/>
            <a:ext cx="2743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STEP 01</a:t>
            </a:r>
            <a:endParaRPr sz="1100">
              <a:solidFill>
                <a:schemeClr val="dk1"/>
              </a:solidFill>
              <a:latin typeface="Calibri"/>
              <a:ea typeface="Calibri"/>
              <a:cs typeface="Calibri"/>
              <a:sym typeface="Calibri"/>
            </a:endParaRPr>
          </a:p>
        </p:txBody>
      </p:sp>
      <p:sp>
        <p:nvSpPr>
          <p:cNvPr id="247" name="Google Shape;247;p8"/>
          <p:cNvSpPr txBox="1"/>
          <p:nvPr/>
        </p:nvSpPr>
        <p:spPr>
          <a:xfrm>
            <a:off x="731520" y="3703320"/>
            <a:ext cx="3108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2800"/>
              <a:buFont typeface="Arial"/>
              <a:buNone/>
            </a:pPr>
            <a:r>
              <a:rPr b="1" lang="en-US" sz="2800">
                <a:solidFill>
                  <a:srgbClr val="17261D"/>
                </a:solidFill>
                <a:latin typeface="Arial"/>
                <a:ea typeface="Arial"/>
                <a:cs typeface="Arial"/>
                <a:sym typeface="Arial"/>
              </a:rPr>
              <a:t>Filter</a:t>
            </a:r>
            <a:endParaRPr sz="2800">
              <a:solidFill>
                <a:schemeClr val="dk1"/>
              </a:solidFill>
              <a:latin typeface="Calibri"/>
              <a:ea typeface="Calibri"/>
              <a:cs typeface="Calibri"/>
              <a:sym typeface="Calibri"/>
            </a:endParaRPr>
          </a:p>
        </p:txBody>
      </p:sp>
      <p:sp>
        <p:nvSpPr>
          <p:cNvPr id="248" name="Google Shape;248;p8"/>
          <p:cNvSpPr/>
          <p:nvPr/>
        </p:nvSpPr>
        <p:spPr>
          <a:xfrm>
            <a:off x="731520" y="4434840"/>
            <a:ext cx="3246120" cy="1783080"/>
          </a:xfrm>
          <a:prstGeom prst="roundRect">
            <a:avLst>
              <a:gd fmla="val 9231"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8"/>
          <p:cNvSpPr txBox="1"/>
          <p:nvPr/>
        </p:nvSpPr>
        <p:spPr>
          <a:xfrm>
            <a:off x="914400" y="4617720"/>
            <a:ext cx="2926080" cy="14630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17261D"/>
              </a:buClr>
              <a:buSzPts val="1400"/>
              <a:buFont typeface="Calibri"/>
              <a:buChar char="•"/>
            </a:pPr>
            <a:r>
              <a:rPr lang="en-US" sz="1400">
                <a:solidFill>
                  <a:srgbClr val="17261D"/>
                </a:solidFill>
                <a:latin typeface="Calibri"/>
                <a:ea typeface="Calibri"/>
                <a:cs typeface="Calibri"/>
                <a:sym typeface="Calibri"/>
              </a:rPr>
              <a:t>Sector and county</a:t>
            </a:r>
            <a:endParaRPr sz="1400">
              <a:solidFill>
                <a:schemeClr val="dk1"/>
              </a:solidFill>
              <a:latin typeface="Calibri"/>
              <a:ea typeface="Calibri"/>
              <a:cs typeface="Calibri"/>
              <a:sym typeface="Calibri"/>
            </a:endParaRPr>
          </a:p>
          <a:p>
            <a:pPr indent="-177800" lvl="0" marL="177800" marR="0" rtl="0" algn="l">
              <a:spcBef>
                <a:spcPts val="600"/>
              </a:spcBef>
              <a:spcAft>
                <a:spcPts val="0"/>
              </a:spcAft>
              <a:buClr>
                <a:srgbClr val="17261D"/>
              </a:buClr>
              <a:buSzPts val="1400"/>
              <a:buFont typeface="Calibri"/>
              <a:buChar char="•"/>
            </a:pPr>
            <a:r>
              <a:rPr lang="en-US" sz="1400">
                <a:solidFill>
                  <a:srgbClr val="17261D"/>
                </a:solidFill>
                <a:latin typeface="Calibri"/>
                <a:ea typeface="Calibri"/>
                <a:cs typeface="Calibri"/>
                <a:sym typeface="Calibri"/>
              </a:rPr>
              <a:t>Minimum score</a:t>
            </a:r>
            <a:endParaRPr sz="1400">
              <a:solidFill>
                <a:schemeClr val="dk1"/>
              </a:solidFill>
              <a:latin typeface="Calibri"/>
              <a:ea typeface="Calibri"/>
              <a:cs typeface="Calibri"/>
              <a:sym typeface="Calibri"/>
            </a:endParaRPr>
          </a:p>
          <a:p>
            <a:pPr indent="-177800" lvl="0" marL="177800" marR="0" rtl="0" algn="l">
              <a:spcBef>
                <a:spcPts val="600"/>
              </a:spcBef>
              <a:spcAft>
                <a:spcPts val="0"/>
              </a:spcAft>
              <a:buClr>
                <a:srgbClr val="17261D"/>
              </a:buClr>
              <a:buSzPts val="1400"/>
              <a:buFont typeface="Calibri"/>
              <a:buChar char="•"/>
            </a:pPr>
            <a:r>
              <a:rPr lang="en-US" sz="1400">
                <a:solidFill>
                  <a:srgbClr val="17261D"/>
                </a:solidFill>
                <a:latin typeface="Calibri"/>
                <a:ea typeface="Calibri"/>
                <a:cs typeface="Calibri"/>
                <a:sym typeface="Calibri"/>
              </a:rPr>
              <a:t>Funding, grants, hiring, IP, and accelerator signals</a:t>
            </a:r>
            <a:endParaRPr sz="1400">
              <a:solidFill>
                <a:schemeClr val="dk1"/>
              </a:solidFill>
              <a:latin typeface="Calibri"/>
              <a:ea typeface="Calibri"/>
              <a:cs typeface="Calibri"/>
              <a:sym typeface="Calibri"/>
            </a:endParaRPr>
          </a:p>
        </p:txBody>
      </p:sp>
      <p:sp>
        <p:nvSpPr>
          <p:cNvPr id="250" name="Google Shape;250;p8"/>
          <p:cNvSpPr/>
          <p:nvPr/>
        </p:nvSpPr>
        <p:spPr>
          <a:xfrm>
            <a:off x="4480560" y="1874520"/>
            <a:ext cx="1280160" cy="1280160"/>
          </a:xfrm>
          <a:prstGeom prst="ellipse">
            <a:avLst/>
          </a:prstGeom>
          <a:solidFill>
            <a:srgbClr val="FFFFFF"/>
          </a:solidFill>
          <a:ln cap="flat" cmpd="sng" w="12700">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1" name="Google Shape;251;p8"/>
          <p:cNvPicPr preferRelativeResize="0"/>
          <p:nvPr/>
        </p:nvPicPr>
        <p:blipFill rotWithShape="1">
          <a:blip r:embed="rId4">
            <a:alphaModFix/>
          </a:blip>
          <a:srcRect b="0" l="0" r="0" t="0"/>
          <a:stretch/>
        </p:blipFill>
        <p:spPr>
          <a:xfrm>
            <a:off x="4864608" y="2258568"/>
            <a:ext cx="512064" cy="512064"/>
          </a:xfrm>
          <a:prstGeom prst="rect">
            <a:avLst/>
          </a:prstGeom>
          <a:noFill/>
          <a:ln>
            <a:noFill/>
          </a:ln>
        </p:spPr>
      </p:pic>
      <p:sp>
        <p:nvSpPr>
          <p:cNvPr id="252" name="Google Shape;252;p8"/>
          <p:cNvSpPr txBox="1"/>
          <p:nvPr/>
        </p:nvSpPr>
        <p:spPr>
          <a:xfrm>
            <a:off x="4480560" y="3429000"/>
            <a:ext cx="2743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STEP 02</a:t>
            </a:r>
            <a:endParaRPr sz="1100">
              <a:solidFill>
                <a:schemeClr val="dk1"/>
              </a:solidFill>
              <a:latin typeface="Calibri"/>
              <a:ea typeface="Calibri"/>
              <a:cs typeface="Calibri"/>
              <a:sym typeface="Calibri"/>
            </a:endParaRPr>
          </a:p>
        </p:txBody>
      </p:sp>
      <p:sp>
        <p:nvSpPr>
          <p:cNvPr id="253" name="Google Shape;253;p8"/>
          <p:cNvSpPr txBox="1"/>
          <p:nvPr/>
        </p:nvSpPr>
        <p:spPr>
          <a:xfrm>
            <a:off x="4480560" y="3703320"/>
            <a:ext cx="3108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2800"/>
              <a:buFont typeface="Arial"/>
              <a:buNone/>
            </a:pPr>
            <a:r>
              <a:rPr b="1" lang="en-US" sz="2800">
                <a:solidFill>
                  <a:srgbClr val="17261D"/>
                </a:solidFill>
                <a:latin typeface="Arial"/>
                <a:ea typeface="Arial"/>
                <a:cs typeface="Arial"/>
                <a:sym typeface="Arial"/>
              </a:rPr>
              <a:t>Select</a:t>
            </a:r>
            <a:endParaRPr sz="2800">
              <a:solidFill>
                <a:schemeClr val="dk1"/>
              </a:solidFill>
              <a:latin typeface="Calibri"/>
              <a:ea typeface="Calibri"/>
              <a:cs typeface="Calibri"/>
              <a:sym typeface="Calibri"/>
            </a:endParaRPr>
          </a:p>
        </p:txBody>
      </p:sp>
      <p:sp>
        <p:nvSpPr>
          <p:cNvPr id="254" name="Google Shape;254;p8"/>
          <p:cNvSpPr/>
          <p:nvPr/>
        </p:nvSpPr>
        <p:spPr>
          <a:xfrm>
            <a:off x="4480560" y="4434840"/>
            <a:ext cx="3246120" cy="1783080"/>
          </a:xfrm>
          <a:prstGeom prst="roundRect">
            <a:avLst>
              <a:gd fmla="val 9231"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8"/>
          <p:cNvSpPr txBox="1"/>
          <p:nvPr/>
        </p:nvSpPr>
        <p:spPr>
          <a:xfrm>
            <a:off x="4663440" y="4617720"/>
            <a:ext cx="2926080" cy="14630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17261D"/>
              </a:buClr>
              <a:buSzPts val="1400"/>
              <a:buFont typeface="Calibri"/>
              <a:buChar char="•"/>
            </a:pPr>
            <a:r>
              <a:rPr lang="en-US" sz="1400">
                <a:solidFill>
                  <a:srgbClr val="17261D"/>
                </a:solidFill>
                <a:latin typeface="Calibri"/>
                <a:ea typeface="Calibri"/>
                <a:cs typeface="Calibri"/>
                <a:sym typeface="Calibri"/>
              </a:rPr>
              <a:t>Click a company in the list.</a:t>
            </a:r>
            <a:endParaRPr sz="1400">
              <a:solidFill>
                <a:schemeClr val="dk1"/>
              </a:solidFill>
              <a:latin typeface="Calibri"/>
              <a:ea typeface="Calibri"/>
              <a:cs typeface="Calibri"/>
              <a:sym typeface="Calibri"/>
            </a:endParaRPr>
          </a:p>
          <a:p>
            <a:pPr indent="-177800" lvl="0" marL="177800" marR="0" rtl="0" algn="l">
              <a:spcBef>
                <a:spcPts val="600"/>
              </a:spcBef>
              <a:spcAft>
                <a:spcPts val="0"/>
              </a:spcAft>
              <a:buClr>
                <a:srgbClr val="17261D"/>
              </a:buClr>
              <a:buSzPts val="1400"/>
              <a:buFont typeface="Calibri"/>
              <a:buChar char="•"/>
            </a:pPr>
            <a:r>
              <a:rPr lang="en-US" sz="1400">
                <a:solidFill>
                  <a:srgbClr val="17261D"/>
                </a:solidFill>
                <a:latin typeface="Calibri"/>
                <a:ea typeface="Calibri"/>
                <a:cs typeface="Calibri"/>
                <a:sym typeface="Calibri"/>
              </a:rPr>
              <a:t>The map flies to its pin.</a:t>
            </a:r>
            <a:endParaRPr sz="1400">
              <a:solidFill>
                <a:schemeClr val="dk1"/>
              </a:solidFill>
              <a:latin typeface="Calibri"/>
              <a:ea typeface="Calibri"/>
              <a:cs typeface="Calibri"/>
              <a:sym typeface="Calibri"/>
            </a:endParaRPr>
          </a:p>
          <a:p>
            <a:pPr indent="-177800" lvl="0" marL="177800" marR="0" rtl="0" algn="l">
              <a:spcBef>
                <a:spcPts val="600"/>
              </a:spcBef>
              <a:spcAft>
                <a:spcPts val="0"/>
              </a:spcAft>
              <a:buClr>
                <a:srgbClr val="17261D"/>
              </a:buClr>
              <a:buSzPts val="1400"/>
              <a:buFont typeface="Calibri"/>
              <a:buChar char="•"/>
            </a:pPr>
            <a:r>
              <a:rPr lang="en-US" sz="1400">
                <a:solidFill>
                  <a:srgbClr val="17261D"/>
                </a:solidFill>
                <a:latin typeface="Calibri"/>
                <a:ea typeface="Calibri"/>
                <a:cs typeface="Calibri"/>
                <a:sym typeface="Calibri"/>
              </a:rPr>
              <a:t>Or select the pin directly.</a:t>
            </a:r>
            <a:endParaRPr sz="1400">
              <a:solidFill>
                <a:schemeClr val="dk1"/>
              </a:solidFill>
              <a:latin typeface="Calibri"/>
              <a:ea typeface="Calibri"/>
              <a:cs typeface="Calibri"/>
              <a:sym typeface="Calibri"/>
            </a:endParaRPr>
          </a:p>
        </p:txBody>
      </p:sp>
      <p:sp>
        <p:nvSpPr>
          <p:cNvPr id="256" name="Google Shape;256;p8"/>
          <p:cNvSpPr/>
          <p:nvPr/>
        </p:nvSpPr>
        <p:spPr>
          <a:xfrm>
            <a:off x="8229600" y="1874520"/>
            <a:ext cx="1280160" cy="1280160"/>
          </a:xfrm>
          <a:prstGeom prst="ellipse">
            <a:avLst/>
          </a:prstGeom>
          <a:solidFill>
            <a:srgbClr val="29593E"/>
          </a:solidFill>
          <a:ln cap="flat" cmpd="sng" w="12700">
            <a:solidFill>
              <a:srgbClr val="29593E"/>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7" name="Google Shape;257;p8"/>
          <p:cNvPicPr preferRelativeResize="0"/>
          <p:nvPr/>
        </p:nvPicPr>
        <p:blipFill rotWithShape="1">
          <a:blip r:embed="rId5">
            <a:alphaModFix/>
          </a:blip>
          <a:srcRect b="0" l="0" r="0" t="0"/>
          <a:stretch/>
        </p:blipFill>
        <p:spPr>
          <a:xfrm>
            <a:off x="8613648" y="2258568"/>
            <a:ext cx="512064" cy="512064"/>
          </a:xfrm>
          <a:prstGeom prst="rect">
            <a:avLst/>
          </a:prstGeom>
          <a:noFill/>
          <a:ln>
            <a:noFill/>
          </a:ln>
        </p:spPr>
      </p:pic>
      <p:sp>
        <p:nvSpPr>
          <p:cNvPr id="258" name="Google Shape;258;p8"/>
          <p:cNvSpPr txBox="1"/>
          <p:nvPr/>
        </p:nvSpPr>
        <p:spPr>
          <a:xfrm>
            <a:off x="8229600" y="3429000"/>
            <a:ext cx="2743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STEP 03</a:t>
            </a:r>
            <a:endParaRPr sz="1100">
              <a:solidFill>
                <a:schemeClr val="dk1"/>
              </a:solidFill>
              <a:latin typeface="Calibri"/>
              <a:ea typeface="Calibri"/>
              <a:cs typeface="Calibri"/>
              <a:sym typeface="Calibri"/>
            </a:endParaRPr>
          </a:p>
        </p:txBody>
      </p:sp>
      <p:sp>
        <p:nvSpPr>
          <p:cNvPr id="259" name="Google Shape;259;p8"/>
          <p:cNvSpPr txBox="1"/>
          <p:nvPr/>
        </p:nvSpPr>
        <p:spPr>
          <a:xfrm>
            <a:off x="8229600" y="3703320"/>
            <a:ext cx="3108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2800"/>
              <a:buFont typeface="Arial"/>
              <a:buNone/>
            </a:pPr>
            <a:r>
              <a:rPr b="1" lang="en-US" sz="2800">
                <a:solidFill>
                  <a:srgbClr val="17261D"/>
                </a:solidFill>
                <a:latin typeface="Arial"/>
                <a:ea typeface="Arial"/>
                <a:cs typeface="Arial"/>
                <a:sym typeface="Arial"/>
              </a:rPr>
              <a:t>Explore</a:t>
            </a:r>
            <a:endParaRPr sz="2800">
              <a:solidFill>
                <a:schemeClr val="dk1"/>
              </a:solidFill>
              <a:latin typeface="Calibri"/>
              <a:ea typeface="Calibri"/>
              <a:cs typeface="Calibri"/>
              <a:sym typeface="Calibri"/>
            </a:endParaRPr>
          </a:p>
        </p:txBody>
      </p:sp>
      <p:sp>
        <p:nvSpPr>
          <p:cNvPr id="260" name="Google Shape;260;p8"/>
          <p:cNvSpPr/>
          <p:nvPr/>
        </p:nvSpPr>
        <p:spPr>
          <a:xfrm>
            <a:off x="8229600" y="4434840"/>
            <a:ext cx="3246120" cy="1783080"/>
          </a:xfrm>
          <a:prstGeom prst="roundRect">
            <a:avLst>
              <a:gd fmla="val 9231"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8"/>
          <p:cNvSpPr txBox="1"/>
          <p:nvPr/>
        </p:nvSpPr>
        <p:spPr>
          <a:xfrm>
            <a:off x="8412480" y="4617720"/>
            <a:ext cx="2926080" cy="14630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17261D"/>
              </a:buClr>
              <a:buSzPts val="1400"/>
              <a:buFont typeface="Calibri"/>
              <a:buChar char="•"/>
            </a:pPr>
            <a:r>
              <a:rPr lang="en-US" sz="1400">
                <a:solidFill>
                  <a:srgbClr val="17261D"/>
                </a:solidFill>
                <a:latin typeface="Calibri"/>
                <a:ea typeface="Calibri"/>
                <a:cs typeface="Calibri"/>
                <a:sym typeface="Calibri"/>
              </a:rPr>
              <a:t>Company overview and location</a:t>
            </a:r>
            <a:endParaRPr sz="1400">
              <a:solidFill>
                <a:schemeClr val="dk1"/>
              </a:solidFill>
              <a:latin typeface="Calibri"/>
              <a:ea typeface="Calibri"/>
              <a:cs typeface="Calibri"/>
              <a:sym typeface="Calibri"/>
            </a:endParaRPr>
          </a:p>
          <a:p>
            <a:pPr indent="-177800" lvl="0" marL="177800" marR="0" rtl="0" algn="l">
              <a:spcBef>
                <a:spcPts val="600"/>
              </a:spcBef>
              <a:spcAft>
                <a:spcPts val="0"/>
              </a:spcAft>
              <a:buClr>
                <a:srgbClr val="17261D"/>
              </a:buClr>
              <a:buSzPts val="1400"/>
              <a:buFont typeface="Calibri"/>
              <a:buChar char="•"/>
            </a:pPr>
            <a:r>
              <a:rPr lang="en-US" sz="1400">
                <a:solidFill>
                  <a:srgbClr val="17261D"/>
                </a:solidFill>
                <a:latin typeface="Calibri"/>
                <a:ea typeface="Calibri"/>
                <a:cs typeface="Calibri"/>
                <a:sym typeface="Calibri"/>
              </a:rPr>
              <a:t>Sector and Startup Score</a:t>
            </a:r>
            <a:endParaRPr sz="1400">
              <a:solidFill>
                <a:schemeClr val="dk1"/>
              </a:solidFill>
              <a:latin typeface="Calibri"/>
              <a:ea typeface="Calibri"/>
              <a:cs typeface="Calibri"/>
              <a:sym typeface="Calibri"/>
            </a:endParaRPr>
          </a:p>
          <a:p>
            <a:pPr indent="-177800" lvl="0" marL="177800" marR="0" rtl="0" algn="l">
              <a:spcBef>
                <a:spcPts val="600"/>
              </a:spcBef>
              <a:spcAft>
                <a:spcPts val="0"/>
              </a:spcAft>
              <a:buClr>
                <a:srgbClr val="17261D"/>
              </a:buClr>
              <a:buSzPts val="1400"/>
              <a:buFont typeface="Calibri"/>
              <a:buChar char="•"/>
            </a:pPr>
            <a:r>
              <a:rPr lang="en-US" sz="1400">
                <a:solidFill>
                  <a:srgbClr val="17261D"/>
                </a:solidFill>
                <a:latin typeface="Calibri"/>
                <a:ea typeface="Calibri"/>
                <a:cs typeface="Calibri"/>
                <a:sym typeface="Calibri"/>
              </a:rPr>
              <a:t>Detected ecosystem signals</a:t>
            </a:r>
            <a:endParaRPr sz="1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1"/>
        </a:solidFill>
      </p:bgPr>
    </p:bg>
    <p:spTree>
      <p:nvGrpSpPr>
        <p:cNvPr id="266" name="Shape 266"/>
        <p:cNvGrpSpPr/>
        <p:nvPr/>
      </p:nvGrpSpPr>
      <p:grpSpPr>
        <a:xfrm>
          <a:off x="0" y="0"/>
          <a:ext cx="0" cy="0"/>
          <a:chOff x="0" y="0"/>
          <a:chExt cx="0" cy="0"/>
        </a:xfrm>
      </p:grpSpPr>
      <p:sp>
        <p:nvSpPr>
          <p:cNvPr id="267" name="Google Shape;267;p9"/>
          <p:cNvSpPr/>
          <p:nvPr/>
        </p:nvSpPr>
        <p:spPr>
          <a:xfrm>
            <a:off x="548640" y="365760"/>
            <a:ext cx="2235708" cy="329184"/>
          </a:xfrm>
          <a:prstGeom prst="roundRect">
            <a:avLst>
              <a:gd fmla="val 50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9"/>
          <p:cNvSpPr txBox="1"/>
          <p:nvPr/>
        </p:nvSpPr>
        <p:spPr>
          <a:xfrm>
            <a:off x="548640" y="365760"/>
            <a:ext cx="223570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Startup scoring model</a:t>
            </a:r>
            <a:endParaRPr sz="1100">
              <a:solidFill>
                <a:schemeClr val="dk1"/>
              </a:solidFill>
              <a:latin typeface="Calibri"/>
              <a:ea typeface="Calibri"/>
              <a:cs typeface="Calibri"/>
              <a:sym typeface="Calibri"/>
            </a:endParaRPr>
          </a:p>
        </p:txBody>
      </p:sp>
      <p:sp>
        <p:nvSpPr>
          <p:cNvPr id="269" name="Google Shape;269;p9"/>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200"/>
              <a:buFont typeface="Calibri"/>
              <a:buNone/>
            </a:pPr>
            <a:r>
              <a:rPr b="1" lang="en-US" sz="1200">
                <a:solidFill>
                  <a:srgbClr val="5E6B63"/>
                </a:solidFill>
                <a:latin typeface="Calibri"/>
                <a:ea typeface="Calibri"/>
                <a:cs typeface="Calibri"/>
                <a:sym typeface="Calibri"/>
              </a:rPr>
              <a:t>09</a:t>
            </a:r>
            <a:endParaRPr sz="1200">
              <a:solidFill>
                <a:schemeClr val="dk1"/>
              </a:solidFill>
              <a:latin typeface="Calibri"/>
              <a:ea typeface="Calibri"/>
              <a:cs typeface="Calibri"/>
              <a:sym typeface="Calibri"/>
            </a:endParaRPr>
          </a:p>
        </p:txBody>
      </p:sp>
      <p:sp>
        <p:nvSpPr>
          <p:cNvPr id="270" name="Google Shape;270;p9"/>
          <p:cNvSpPr txBox="1"/>
          <p:nvPr/>
        </p:nvSpPr>
        <p:spPr>
          <a:xfrm>
            <a:off x="548640" y="868680"/>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3600"/>
              <a:buFont typeface="Arial"/>
              <a:buNone/>
            </a:pPr>
            <a:r>
              <a:rPr b="1" lang="en-US" sz="3600">
                <a:solidFill>
                  <a:srgbClr val="17261D"/>
                </a:solidFill>
                <a:latin typeface="Arial"/>
                <a:ea typeface="Arial"/>
                <a:cs typeface="Arial"/>
                <a:sym typeface="Arial"/>
              </a:rPr>
              <a:t>How the Startup Score is built.</a:t>
            </a:r>
            <a:endParaRPr sz="3600">
              <a:solidFill>
                <a:schemeClr val="dk1"/>
              </a:solidFill>
              <a:latin typeface="Calibri"/>
              <a:ea typeface="Calibri"/>
              <a:cs typeface="Calibri"/>
              <a:sym typeface="Calibri"/>
            </a:endParaRPr>
          </a:p>
        </p:txBody>
      </p:sp>
      <p:sp>
        <p:nvSpPr>
          <p:cNvPr id="271" name="Google Shape;271;p9"/>
          <p:cNvSpPr/>
          <p:nvPr/>
        </p:nvSpPr>
        <p:spPr>
          <a:xfrm>
            <a:off x="548640" y="1737360"/>
            <a:ext cx="4114800" cy="4526280"/>
          </a:xfrm>
          <a:prstGeom prst="roundRect">
            <a:avLst>
              <a:gd fmla="val 5556"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272" name="Google Shape;272;p9"/>
          <p:cNvGraphicFramePr/>
          <p:nvPr/>
        </p:nvGraphicFramePr>
        <p:xfrm>
          <a:off x="685800" y="1920240"/>
          <a:ext cx="3840480" cy="3840480"/>
        </p:xfrm>
        <a:graphic>
          <a:graphicData uri="http://schemas.openxmlformats.org/drawingml/2006/chart">
            <c:chart r:id="rId3"/>
          </a:graphicData>
        </a:graphic>
      </p:graphicFrame>
      <p:sp>
        <p:nvSpPr>
          <p:cNvPr id="273" name="Google Shape;273;p9"/>
          <p:cNvSpPr txBox="1"/>
          <p:nvPr/>
        </p:nvSpPr>
        <p:spPr>
          <a:xfrm>
            <a:off x="1600200" y="3337560"/>
            <a:ext cx="2011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61D"/>
              </a:buClr>
              <a:buSzPts val="3800"/>
              <a:buFont typeface="Arial"/>
              <a:buNone/>
            </a:pPr>
            <a:r>
              <a:rPr b="1" lang="en-US" sz="3800">
                <a:solidFill>
                  <a:srgbClr val="17261D"/>
                </a:solidFill>
                <a:latin typeface="Arial"/>
                <a:ea typeface="Arial"/>
                <a:cs typeface="Arial"/>
                <a:sym typeface="Arial"/>
              </a:rPr>
              <a:t>94</a:t>
            </a:r>
            <a:endParaRPr sz="3800">
              <a:solidFill>
                <a:schemeClr val="dk1"/>
              </a:solidFill>
              <a:latin typeface="Calibri"/>
              <a:ea typeface="Calibri"/>
              <a:cs typeface="Calibri"/>
              <a:sym typeface="Calibri"/>
            </a:endParaRPr>
          </a:p>
        </p:txBody>
      </p:sp>
      <p:sp>
        <p:nvSpPr>
          <p:cNvPr id="274" name="Google Shape;274;p9"/>
          <p:cNvSpPr txBox="1"/>
          <p:nvPr/>
        </p:nvSpPr>
        <p:spPr>
          <a:xfrm>
            <a:off x="1600200" y="4023360"/>
            <a:ext cx="201168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6B63"/>
              </a:buClr>
              <a:buSzPts val="1400"/>
              <a:buFont typeface="Calibri"/>
              <a:buNone/>
            </a:pPr>
            <a:r>
              <a:rPr lang="en-US" sz="1400">
                <a:solidFill>
                  <a:srgbClr val="5E6B63"/>
                </a:solidFill>
                <a:latin typeface="Calibri"/>
                <a:ea typeface="Calibri"/>
                <a:cs typeface="Calibri"/>
                <a:sym typeface="Calibri"/>
              </a:rPr>
              <a:t>Startup Score</a:t>
            </a:r>
            <a:endParaRPr sz="1400">
              <a:solidFill>
                <a:schemeClr val="dk1"/>
              </a:solidFill>
              <a:latin typeface="Calibri"/>
              <a:ea typeface="Calibri"/>
              <a:cs typeface="Calibri"/>
              <a:sym typeface="Calibri"/>
            </a:endParaRPr>
          </a:p>
        </p:txBody>
      </p:sp>
      <p:sp>
        <p:nvSpPr>
          <p:cNvPr id="275" name="Google Shape;275;p9"/>
          <p:cNvSpPr/>
          <p:nvPr/>
        </p:nvSpPr>
        <p:spPr>
          <a:xfrm>
            <a:off x="4937760" y="1737360"/>
            <a:ext cx="6720840" cy="3657600"/>
          </a:xfrm>
          <a:prstGeom prst="roundRect">
            <a:avLst>
              <a:gd fmla="val 6250"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9"/>
          <p:cNvSpPr/>
          <p:nvPr/>
        </p:nvSpPr>
        <p:spPr>
          <a:xfrm>
            <a:off x="5212080" y="2084832"/>
            <a:ext cx="182880" cy="182880"/>
          </a:xfrm>
          <a:prstGeom prst="ellipse">
            <a:avLst/>
          </a:prstGeom>
          <a:solidFill>
            <a:srgbClr val="5FB77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9"/>
          <p:cNvSpPr txBox="1"/>
          <p:nvPr/>
        </p:nvSpPr>
        <p:spPr>
          <a:xfrm>
            <a:off x="5532120" y="1920240"/>
            <a:ext cx="23774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600"/>
              <a:buFont typeface="Calibri"/>
              <a:buNone/>
            </a:pPr>
            <a:r>
              <a:rPr b="1" lang="en-US" sz="1600">
                <a:solidFill>
                  <a:srgbClr val="17261D"/>
                </a:solidFill>
                <a:latin typeface="Calibri"/>
                <a:ea typeface="Calibri"/>
                <a:cs typeface="Calibri"/>
                <a:sym typeface="Calibri"/>
              </a:rPr>
              <a:t>Funding</a:t>
            </a:r>
            <a:endParaRPr sz="1600">
              <a:solidFill>
                <a:schemeClr val="dk1"/>
              </a:solidFill>
              <a:latin typeface="Calibri"/>
              <a:ea typeface="Calibri"/>
              <a:cs typeface="Calibri"/>
              <a:sym typeface="Calibri"/>
            </a:endParaRPr>
          </a:p>
        </p:txBody>
      </p:sp>
      <p:sp>
        <p:nvSpPr>
          <p:cNvPr id="278" name="Google Shape;278;p9"/>
          <p:cNvSpPr txBox="1"/>
          <p:nvPr/>
        </p:nvSpPr>
        <p:spPr>
          <a:xfrm>
            <a:off x="7863840" y="1920240"/>
            <a:ext cx="3657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250"/>
              <a:buFont typeface="Calibri"/>
              <a:buNone/>
            </a:pPr>
            <a:r>
              <a:rPr lang="en-US" sz="1250">
                <a:solidFill>
                  <a:srgbClr val="5E6B63"/>
                </a:solidFill>
                <a:latin typeface="Calibri"/>
                <a:ea typeface="Calibri"/>
                <a:cs typeface="Calibri"/>
                <a:sym typeface="Calibri"/>
              </a:rPr>
              <a:t>Amount raised and number of rounds</a:t>
            </a:r>
            <a:endParaRPr sz="1250">
              <a:solidFill>
                <a:schemeClr val="dk1"/>
              </a:solidFill>
              <a:latin typeface="Calibri"/>
              <a:ea typeface="Calibri"/>
              <a:cs typeface="Calibri"/>
              <a:sym typeface="Calibri"/>
            </a:endParaRPr>
          </a:p>
        </p:txBody>
      </p:sp>
      <p:sp>
        <p:nvSpPr>
          <p:cNvPr id="279" name="Google Shape;279;p9"/>
          <p:cNvSpPr/>
          <p:nvPr/>
        </p:nvSpPr>
        <p:spPr>
          <a:xfrm>
            <a:off x="5212080" y="2633472"/>
            <a:ext cx="182880" cy="182880"/>
          </a:xfrm>
          <a:prstGeom prst="ellipse">
            <a:avLst/>
          </a:prstGeom>
          <a:solidFill>
            <a:srgbClr val="DEA54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9"/>
          <p:cNvSpPr txBox="1"/>
          <p:nvPr/>
        </p:nvSpPr>
        <p:spPr>
          <a:xfrm>
            <a:off x="5532120" y="2468880"/>
            <a:ext cx="23774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600"/>
              <a:buFont typeface="Calibri"/>
              <a:buNone/>
            </a:pPr>
            <a:r>
              <a:rPr b="1" lang="en-US" sz="1600">
                <a:solidFill>
                  <a:srgbClr val="17261D"/>
                </a:solidFill>
                <a:latin typeface="Calibri"/>
                <a:ea typeface="Calibri"/>
                <a:cs typeface="Calibri"/>
                <a:sym typeface="Calibri"/>
              </a:rPr>
              <a:t>Grants</a:t>
            </a:r>
            <a:endParaRPr sz="1600">
              <a:solidFill>
                <a:schemeClr val="dk1"/>
              </a:solidFill>
              <a:latin typeface="Calibri"/>
              <a:ea typeface="Calibri"/>
              <a:cs typeface="Calibri"/>
              <a:sym typeface="Calibri"/>
            </a:endParaRPr>
          </a:p>
        </p:txBody>
      </p:sp>
      <p:sp>
        <p:nvSpPr>
          <p:cNvPr id="281" name="Google Shape;281;p9"/>
          <p:cNvSpPr txBox="1"/>
          <p:nvPr/>
        </p:nvSpPr>
        <p:spPr>
          <a:xfrm>
            <a:off x="7863840" y="2468880"/>
            <a:ext cx="3657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250"/>
              <a:buFont typeface="Calibri"/>
              <a:buNone/>
            </a:pPr>
            <a:r>
              <a:rPr lang="en-US" sz="1250">
                <a:solidFill>
                  <a:srgbClr val="5E6B63"/>
                </a:solidFill>
                <a:latin typeface="Calibri"/>
                <a:ea typeface="Calibri"/>
                <a:cs typeface="Calibri"/>
                <a:sym typeface="Calibri"/>
              </a:rPr>
              <a:t>Award dollars, with SBIR Phase II weighted 2× Phase I</a:t>
            </a:r>
            <a:endParaRPr sz="1250">
              <a:solidFill>
                <a:schemeClr val="dk1"/>
              </a:solidFill>
              <a:latin typeface="Calibri"/>
              <a:ea typeface="Calibri"/>
              <a:cs typeface="Calibri"/>
              <a:sym typeface="Calibri"/>
            </a:endParaRPr>
          </a:p>
        </p:txBody>
      </p:sp>
      <p:sp>
        <p:nvSpPr>
          <p:cNvPr id="282" name="Google Shape;282;p9"/>
          <p:cNvSpPr/>
          <p:nvPr/>
        </p:nvSpPr>
        <p:spPr>
          <a:xfrm>
            <a:off x="5212080" y="3182112"/>
            <a:ext cx="182880" cy="182880"/>
          </a:xfrm>
          <a:prstGeom prst="ellipse">
            <a:avLst/>
          </a:prstGeom>
          <a:solidFill>
            <a:srgbClr val="4CA19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9"/>
          <p:cNvSpPr txBox="1"/>
          <p:nvPr/>
        </p:nvSpPr>
        <p:spPr>
          <a:xfrm>
            <a:off x="5532120" y="3017520"/>
            <a:ext cx="23774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600"/>
              <a:buFont typeface="Calibri"/>
              <a:buNone/>
            </a:pPr>
            <a:r>
              <a:rPr b="1" lang="en-US" sz="1600">
                <a:solidFill>
                  <a:srgbClr val="17261D"/>
                </a:solidFill>
                <a:latin typeface="Calibri"/>
                <a:ea typeface="Calibri"/>
                <a:cs typeface="Calibri"/>
                <a:sym typeface="Calibri"/>
              </a:rPr>
              <a:t>Hiring</a:t>
            </a:r>
            <a:endParaRPr sz="1600">
              <a:solidFill>
                <a:schemeClr val="dk1"/>
              </a:solidFill>
              <a:latin typeface="Calibri"/>
              <a:ea typeface="Calibri"/>
              <a:cs typeface="Calibri"/>
              <a:sym typeface="Calibri"/>
            </a:endParaRPr>
          </a:p>
        </p:txBody>
      </p:sp>
      <p:sp>
        <p:nvSpPr>
          <p:cNvPr id="284" name="Google Shape;284;p9"/>
          <p:cNvSpPr txBox="1"/>
          <p:nvPr/>
        </p:nvSpPr>
        <p:spPr>
          <a:xfrm>
            <a:off x="7863840" y="3017520"/>
            <a:ext cx="3657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250"/>
              <a:buFont typeface="Calibri"/>
              <a:buNone/>
            </a:pPr>
            <a:r>
              <a:rPr lang="en-US" sz="1250">
                <a:solidFill>
                  <a:srgbClr val="5E6B63"/>
                </a:solidFill>
                <a:latin typeface="Calibri"/>
                <a:ea typeface="Calibri"/>
                <a:cs typeface="Calibri"/>
                <a:sym typeface="Calibri"/>
              </a:rPr>
              <a:t>Open roles and share of technical roles</a:t>
            </a:r>
            <a:endParaRPr sz="1250">
              <a:solidFill>
                <a:schemeClr val="dk1"/>
              </a:solidFill>
              <a:latin typeface="Calibri"/>
              <a:ea typeface="Calibri"/>
              <a:cs typeface="Calibri"/>
              <a:sym typeface="Calibri"/>
            </a:endParaRPr>
          </a:p>
        </p:txBody>
      </p:sp>
      <p:sp>
        <p:nvSpPr>
          <p:cNvPr id="285" name="Google Shape;285;p9"/>
          <p:cNvSpPr/>
          <p:nvPr/>
        </p:nvSpPr>
        <p:spPr>
          <a:xfrm>
            <a:off x="5212080" y="3730752"/>
            <a:ext cx="182880" cy="182880"/>
          </a:xfrm>
          <a:prstGeom prst="ellipse">
            <a:avLst/>
          </a:prstGeom>
          <a:solidFill>
            <a:srgbClr val="845EE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9"/>
          <p:cNvSpPr txBox="1"/>
          <p:nvPr/>
        </p:nvSpPr>
        <p:spPr>
          <a:xfrm>
            <a:off x="5532120" y="3566160"/>
            <a:ext cx="23774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600"/>
              <a:buFont typeface="Calibri"/>
              <a:buNone/>
            </a:pPr>
            <a:r>
              <a:rPr b="1" lang="en-US" sz="1600">
                <a:solidFill>
                  <a:srgbClr val="17261D"/>
                </a:solidFill>
                <a:latin typeface="Calibri"/>
                <a:ea typeface="Calibri"/>
                <a:cs typeface="Calibri"/>
                <a:sym typeface="Calibri"/>
              </a:rPr>
              <a:t>IP</a:t>
            </a:r>
            <a:endParaRPr sz="1600">
              <a:solidFill>
                <a:schemeClr val="dk1"/>
              </a:solidFill>
              <a:latin typeface="Calibri"/>
              <a:ea typeface="Calibri"/>
              <a:cs typeface="Calibri"/>
              <a:sym typeface="Calibri"/>
            </a:endParaRPr>
          </a:p>
        </p:txBody>
      </p:sp>
      <p:sp>
        <p:nvSpPr>
          <p:cNvPr id="287" name="Google Shape;287;p9"/>
          <p:cNvSpPr txBox="1"/>
          <p:nvPr/>
        </p:nvSpPr>
        <p:spPr>
          <a:xfrm>
            <a:off x="7863840" y="3566160"/>
            <a:ext cx="3657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250"/>
              <a:buFont typeface="Calibri"/>
              <a:buNone/>
            </a:pPr>
            <a:r>
              <a:rPr lang="en-US" sz="1250">
                <a:solidFill>
                  <a:srgbClr val="5E6B63"/>
                </a:solidFill>
                <a:latin typeface="Calibri"/>
                <a:ea typeface="Calibri"/>
                <a:cs typeface="Calibri"/>
                <a:sym typeface="Calibri"/>
              </a:rPr>
              <a:t>Recent patent and trademark filings</a:t>
            </a:r>
            <a:endParaRPr sz="1250">
              <a:solidFill>
                <a:schemeClr val="dk1"/>
              </a:solidFill>
              <a:latin typeface="Calibri"/>
              <a:ea typeface="Calibri"/>
              <a:cs typeface="Calibri"/>
              <a:sym typeface="Calibri"/>
            </a:endParaRPr>
          </a:p>
        </p:txBody>
      </p:sp>
      <p:sp>
        <p:nvSpPr>
          <p:cNvPr id="288" name="Google Shape;288;p9"/>
          <p:cNvSpPr/>
          <p:nvPr/>
        </p:nvSpPr>
        <p:spPr>
          <a:xfrm>
            <a:off x="5212080" y="4279392"/>
            <a:ext cx="182880" cy="182880"/>
          </a:xfrm>
          <a:prstGeom prst="ellipse">
            <a:avLst/>
          </a:prstGeom>
          <a:solidFill>
            <a:srgbClr val="DC728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9"/>
          <p:cNvSpPr txBox="1"/>
          <p:nvPr/>
        </p:nvSpPr>
        <p:spPr>
          <a:xfrm>
            <a:off x="5532120" y="4114800"/>
            <a:ext cx="23774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600"/>
              <a:buFont typeface="Calibri"/>
              <a:buNone/>
            </a:pPr>
            <a:r>
              <a:rPr b="1" lang="en-US" sz="1600">
                <a:solidFill>
                  <a:srgbClr val="17261D"/>
                </a:solidFill>
                <a:latin typeface="Calibri"/>
                <a:ea typeface="Calibri"/>
                <a:cs typeface="Calibri"/>
                <a:sym typeface="Calibri"/>
              </a:rPr>
              <a:t>Accelerator / incubator</a:t>
            </a:r>
            <a:endParaRPr sz="1600">
              <a:solidFill>
                <a:schemeClr val="dk1"/>
              </a:solidFill>
              <a:latin typeface="Calibri"/>
              <a:ea typeface="Calibri"/>
              <a:cs typeface="Calibri"/>
              <a:sym typeface="Calibri"/>
            </a:endParaRPr>
          </a:p>
        </p:txBody>
      </p:sp>
      <p:sp>
        <p:nvSpPr>
          <p:cNvPr id="290" name="Google Shape;290;p9"/>
          <p:cNvSpPr txBox="1"/>
          <p:nvPr/>
        </p:nvSpPr>
        <p:spPr>
          <a:xfrm>
            <a:off x="7863840" y="4114800"/>
            <a:ext cx="3657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250"/>
              <a:buFont typeface="Calibri"/>
              <a:buNone/>
            </a:pPr>
            <a:r>
              <a:rPr lang="en-US" sz="1250">
                <a:solidFill>
                  <a:srgbClr val="5E6B63"/>
                </a:solidFill>
                <a:latin typeface="Calibri"/>
                <a:ea typeface="Calibri"/>
                <a:cs typeface="Calibri"/>
                <a:sym typeface="Calibri"/>
              </a:rPr>
              <a:t>Participation, with a boost for selective programs</a:t>
            </a:r>
            <a:endParaRPr sz="1250">
              <a:solidFill>
                <a:schemeClr val="dk1"/>
              </a:solidFill>
              <a:latin typeface="Calibri"/>
              <a:ea typeface="Calibri"/>
              <a:cs typeface="Calibri"/>
              <a:sym typeface="Calibri"/>
            </a:endParaRPr>
          </a:p>
        </p:txBody>
      </p:sp>
      <p:sp>
        <p:nvSpPr>
          <p:cNvPr id="291" name="Google Shape;291;p9"/>
          <p:cNvSpPr/>
          <p:nvPr/>
        </p:nvSpPr>
        <p:spPr>
          <a:xfrm>
            <a:off x="5212080" y="4828032"/>
            <a:ext cx="182880" cy="182880"/>
          </a:xfrm>
          <a:prstGeom prst="ellipse">
            <a:avLst/>
          </a:prstGeom>
          <a:solidFill>
            <a:srgbClr val="4E81E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9"/>
          <p:cNvSpPr txBox="1"/>
          <p:nvPr/>
        </p:nvSpPr>
        <p:spPr>
          <a:xfrm>
            <a:off x="5532120" y="4663440"/>
            <a:ext cx="23774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600"/>
              <a:buFont typeface="Calibri"/>
              <a:buNone/>
            </a:pPr>
            <a:r>
              <a:rPr b="1" lang="en-US" sz="1600">
                <a:solidFill>
                  <a:srgbClr val="17261D"/>
                </a:solidFill>
                <a:latin typeface="Calibri"/>
                <a:ea typeface="Calibri"/>
                <a:cs typeface="Calibri"/>
                <a:sym typeface="Calibri"/>
              </a:rPr>
              <a:t>Public support &amp; other</a:t>
            </a:r>
            <a:endParaRPr sz="1600">
              <a:solidFill>
                <a:schemeClr val="dk1"/>
              </a:solidFill>
              <a:latin typeface="Calibri"/>
              <a:ea typeface="Calibri"/>
              <a:cs typeface="Calibri"/>
              <a:sym typeface="Calibri"/>
            </a:endParaRPr>
          </a:p>
        </p:txBody>
      </p:sp>
      <p:sp>
        <p:nvSpPr>
          <p:cNvPr id="293" name="Google Shape;293;p9"/>
          <p:cNvSpPr txBox="1"/>
          <p:nvPr/>
        </p:nvSpPr>
        <p:spPr>
          <a:xfrm>
            <a:off x="7863840" y="4663440"/>
            <a:ext cx="3657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63"/>
              </a:buClr>
              <a:buSzPts val="1250"/>
              <a:buFont typeface="Calibri"/>
              <a:buNone/>
            </a:pPr>
            <a:r>
              <a:rPr lang="en-US" sz="1250">
                <a:solidFill>
                  <a:srgbClr val="5E6B63"/>
                </a:solidFill>
                <a:latin typeface="Calibri"/>
                <a:ea typeface="Calibri"/>
                <a:cs typeface="Calibri"/>
                <a:sym typeface="Calibri"/>
              </a:rPr>
              <a:t>NJEDA programs, awards, and press</a:t>
            </a:r>
            <a:endParaRPr sz="1250">
              <a:solidFill>
                <a:schemeClr val="dk1"/>
              </a:solidFill>
              <a:latin typeface="Calibri"/>
              <a:ea typeface="Calibri"/>
              <a:cs typeface="Calibri"/>
              <a:sym typeface="Calibri"/>
            </a:endParaRPr>
          </a:p>
        </p:txBody>
      </p:sp>
      <p:sp>
        <p:nvSpPr>
          <p:cNvPr id="294" name="Google Shape;294;p9"/>
          <p:cNvSpPr/>
          <p:nvPr/>
        </p:nvSpPr>
        <p:spPr>
          <a:xfrm>
            <a:off x="4937760" y="5532120"/>
            <a:ext cx="6720840" cy="731520"/>
          </a:xfrm>
          <a:prstGeom prst="roundRect">
            <a:avLst>
              <a:gd fmla="val 1875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9"/>
          <p:cNvSpPr txBox="1"/>
          <p:nvPr/>
        </p:nvSpPr>
        <p:spPr>
          <a:xfrm>
            <a:off x="5166360" y="5532120"/>
            <a:ext cx="6400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400"/>
              <a:buFont typeface="Calibri"/>
              <a:buNone/>
            </a:pPr>
            <a:r>
              <a:rPr b="1" lang="en-US" sz="1400">
                <a:solidFill>
                  <a:srgbClr val="17261D"/>
                </a:solidFill>
                <a:latin typeface="Calibri"/>
                <a:ea typeface="Calibri"/>
                <a:cs typeface="Calibri"/>
                <a:sym typeface="Calibri"/>
              </a:rPr>
              <a:t>Normalize each signal. Combine using the selected weights.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29593E"/>
              </a:buClr>
              <a:buSzPts val="1400"/>
              <a:buFont typeface="Calibri"/>
              <a:buNone/>
            </a:pPr>
            <a:r>
              <a:rPr lang="en-US" sz="1400">
                <a:solidFill>
                  <a:srgbClr val="29593E"/>
                </a:solidFill>
                <a:latin typeface="Calibri"/>
                <a:ea typeface="Calibri"/>
                <a:cs typeface="Calibri"/>
                <a:sym typeface="Calibri"/>
              </a:rPr>
              <a:t>Boost companies with several independent signal types.</a:t>
            </a:r>
            <a:endParaRPr sz="1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1"/>
        </a:solidFill>
      </p:bgPr>
    </p:bg>
    <p:spTree>
      <p:nvGrpSpPr>
        <p:cNvPr id="300" name="Shape 300"/>
        <p:cNvGrpSpPr/>
        <p:nvPr/>
      </p:nvGrpSpPr>
      <p:grpSpPr>
        <a:xfrm>
          <a:off x="0" y="0"/>
          <a:ext cx="0" cy="0"/>
          <a:chOff x="0" y="0"/>
          <a:chExt cx="0" cy="0"/>
        </a:xfrm>
      </p:grpSpPr>
      <p:sp>
        <p:nvSpPr>
          <p:cNvPr id="301" name="Google Shape;301;p10"/>
          <p:cNvSpPr/>
          <p:nvPr/>
        </p:nvSpPr>
        <p:spPr>
          <a:xfrm>
            <a:off x="548640" y="365760"/>
            <a:ext cx="1888236" cy="329184"/>
          </a:xfrm>
          <a:prstGeom prst="roundRect">
            <a:avLst>
              <a:gd fmla="val 50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0"/>
          <p:cNvSpPr txBox="1"/>
          <p:nvPr/>
        </p:nvSpPr>
        <p:spPr>
          <a:xfrm>
            <a:off x="548640" y="365760"/>
            <a:ext cx="188823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Weights &amp; presets</a:t>
            </a:r>
            <a:endParaRPr sz="1100">
              <a:solidFill>
                <a:schemeClr val="dk1"/>
              </a:solidFill>
              <a:latin typeface="Calibri"/>
              <a:ea typeface="Calibri"/>
              <a:cs typeface="Calibri"/>
              <a:sym typeface="Calibri"/>
            </a:endParaRPr>
          </a:p>
        </p:txBody>
      </p:sp>
      <p:sp>
        <p:nvSpPr>
          <p:cNvPr id="303" name="Google Shape;303;p10"/>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200"/>
              <a:buFont typeface="Calibri"/>
              <a:buNone/>
            </a:pPr>
            <a:r>
              <a:rPr b="1" lang="en-US" sz="1200">
                <a:solidFill>
                  <a:srgbClr val="5E6B63"/>
                </a:solidFill>
                <a:latin typeface="Calibri"/>
                <a:ea typeface="Calibri"/>
                <a:cs typeface="Calibri"/>
                <a:sym typeface="Calibri"/>
              </a:rPr>
              <a:t>10</a:t>
            </a:r>
            <a:endParaRPr sz="1200">
              <a:solidFill>
                <a:schemeClr val="dk1"/>
              </a:solidFill>
              <a:latin typeface="Calibri"/>
              <a:ea typeface="Calibri"/>
              <a:cs typeface="Calibri"/>
              <a:sym typeface="Calibri"/>
            </a:endParaRPr>
          </a:p>
        </p:txBody>
      </p:sp>
      <p:sp>
        <p:nvSpPr>
          <p:cNvPr id="304" name="Google Shape;304;p10"/>
          <p:cNvSpPr txBox="1"/>
          <p:nvPr/>
        </p:nvSpPr>
        <p:spPr>
          <a:xfrm>
            <a:off x="548640" y="868680"/>
            <a:ext cx="41148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3200"/>
              <a:buFont typeface="Arial"/>
              <a:buNone/>
            </a:pPr>
            <a:r>
              <a:rPr b="1" lang="en-US" sz="3200">
                <a:solidFill>
                  <a:srgbClr val="17261D"/>
                </a:solidFill>
                <a:latin typeface="Arial"/>
                <a:ea typeface="Arial"/>
                <a:cs typeface="Arial"/>
                <a:sym typeface="Arial"/>
              </a:rPr>
              <a:t>Rank opportunities</a:t>
            </a:r>
            <a:endParaRPr sz="3200">
              <a:solidFill>
                <a:schemeClr val="dk1"/>
              </a:solidFill>
              <a:latin typeface="Calibri"/>
              <a:ea typeface="Calibri"/>
              <a:cs typeface="Calibri"/>
              <a:sym typeface="Calibri"/>
            </a:endParaRPr>
          </a:p>
          <a:p>
            <a:pPr indent="0" lvl="0" marL="0" marR="0" rtl="0" algn="l">
              <a:spcBef>
                <a:spcPts val="0"/>
              </a:spcBef>
              <a:spcAft>
                <a:spcPts val="0"/>
              </a:spcAft>
              <a:buClr>
                <a:srgbClr val="17261D"/>
              </a:buClr>
              <a:buSzPts val="3200"/>
              <a:buFont typeface="Arial"/>
              <a:buNone/>
            </a:pPr>
            <a:r>
              <a:rPr b="1" lang="en-US" sz="3200">
                <a:solidFill>
                  <a:srgbClr val="17261D"/>
                </a:solidFill>
                <a:latin typeface="Arial"/>
                <a:ea typeface="Arial"/>
                <a:cs typeface="Arial"/>
                <a:sym typeface="Arial"/>
              </a:rPr>
              <a:t>through your lens.</a:t>
            </a:r>
            <a:endParaRPr sz="3200">
              <a:solidFill>
                <a:schemeClr val="dk1"/>
              </a:solidFill>
              <a:latin typeface="Calibri"/>
              <a:ea typeface="Calibri"/>
              <a:cs typeface="Calibri"/>
              <a:sym typeface="Calibri"/>
            </a:endParaRPr>
          </a:p>
        </p:txBody>
      </p:sp>
      <p:sp>
        <p:nvSpPr>
          <p:cNvPr id="305" name="Google Shape;305;p10"/>
          <p:cNvSpPr/>
          <p:nvPr/>
        </p:nvSpPr>
        <p:spPr>
          <a:xfrm>
            <a:off x="548640" y="2514600"/>
            <a:ext cx="685800" cy="68580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06" name="Google Shape;306;p10"/>
          <p:cNvPicPr preferRelativeResize="0"/>
          <p:nvPr/>
        </p:nvPicPr>
        <p:blipFill rotWithShape="1">
          <a:blip r:embed="rId3">
            <a:alphaModFix/>
          </a:blip>
          <a:srcRect b="0" l="0" r="0" t="0"/>
          <a:stretch/>
        </p:blipFill>
        <p:spPr>
          <a:xfrm>
            <a:off x="720090" y="2686050"/>
            <a:ext cx="342900" cy="342900"/>
          </a:xfrm>
          <a:prstGeom prst="rect">
            <a:avLst/>
          </a:prstGeom>
          <a:noFill/>
          <a:ln>
            <a:noFill/>
          </a:ln>
        </p:spPr>
      </p:pic>
      <p:sp>
        <p:nvSpPr>
          <p:cNvPr id="307" name="Google Shape;307;p10"/>
          <p:cNvSpPr txBox="1"/>
          <p:nvPr/>
        </p:nvSpPr>
        <p:spPr>
          <a:xfrm>
            <a:off x="548640" y="3429000"/>
            <a:ext cx="39319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2000"/>
              <a:buFont typeface="Calibri"/>
              <a:buNone/>
            </a:pPr>
            <a:r>
              <a:rPr b="1" lang="en-US" sz="2000">
                <a:solidFill>
                  <a:srgbClr val="17261D"/>
                </a:solidFill>
                <a:latin typeface="Calibri"/>
                <a:ea typeface="Calibri"/>
                <a:cs typeface="Calibri"/>
                <a:sym typeface="Calibri"/>
              </a:rPr>
              <a:t>Adjust one slider per signal.</a:t>
            </a:r>
            <a:endParaRPr sz="2000">
              <a:solidFill>
                <a:schemeClr val="dk1"/>
              </a:solidFill>
              <a:latin typeface="Calibri"/>
              <a:ea typeface="Calibri"/>
              <a:cs typeface="Calibri"/>
              <a:sym typeface="Calibri"/>
            </a:endParaRPr>
          </a:p>
        </p:txBody>
      </p:sp>
      <p:sp>
        <p:nvSpPr>
          <p:cNvPr id="308" name="Google Shape;308;p10"/>
          <p:cNvSpPr txBox="1"/>
          <p:nvPr/>
        </p:nvSpPr>
        <p:spPr>
          <a:xfrm>
            <a:off x="548640" y="3886200"/>
            <a:ext cx="39319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9593E"/>
              </a:buClr>
              <a:buSzPts val="2000"/>
              <a:buFont typeface="Calibri"/>
              <a:buNone/>
            </a:pPr>
            <a:r>
              <a:rPr b="1" lang="en-US" sz="2000">
                <a:solidFill>
                  <a:srgbClr val="29593E"/>
                </a:solidFill>
                <a:latin typeface="Calibri"/>
                <a:ea typeface="Calibri"/>
                <a:cs typeface="Calibri"/>
                <a:sym typeface="Calibri"/>
              </a:rPr>
              <a:t>Rankings update live.</a:t>
            </a:r>
            <a:endParaRPr sz="2000">
              <a:solidFill>
                <a:schemeClr val="dk1"/>
              </a:solidFill>
              <a:latin typeface="Calibri"/>
              <a:ea typeface="Calibri"/>
              <a:cs typeface="Calibri"/>
              <a:sym typeface="Calibri"/>
            </a:endParaRPr>
          </a:p>
        </p:txBody>
      </p:sp>
      <p:sp>
        <p:nvSpPr>
          <p:cNvPr id="309" name="Google Shape;309;p10"/>
          <p:cNvSpPr txBox="1"/>
          <p:nvPr/>
        </p:nvSpPr>
        <p:spPr>
          <a:xfrm>
            <a:off x="548640" y="4526280"/>
            <a:ext cx="39319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500"/>
              <a:buFont typeface="Calibri"/>
              <a:buNone/>
            </a:pPr>
            <a:r>
              <a:rPr lang="en-US" sz="1500">
                <a:solidFill>
                  <a:srgbClr val="5E6B63"/>
                </a:solidFill>
                <a:latin typeface="Calibri"/>
                <a:ea typeface="Calibri"/>
                <a:cs typeface="Calibri"/>
                <a:sym typeface="Calibri"/>
              </a:rPr>
              <a:t>Same signal base, different evaluation priorities.</a:t>
            </a:r>
            <a:endParaRPr sz="1500">
              <a:solidFill>
                <a:schemeClr val="dk1"/>
              </a:solidFill>
              <a:latin typeface="Calibri"/>
              <a:ea typeface="Calibri"/>
              <a:cs typeface="Calibri"/>
              <a:sym typeface="Calibri"/>
            </a:endParaRPr>
          </a:p>
        </p:txBody>
      </p:sp>
      <p:sp>
        <p:nvSpPr>
          <p:cNvPr id="310" name="Google Shape;310;p10"/>
          <p:cNvSpPr/>
          <p:nvPr/>
        </p:nvSpPr>
        <p:spPr>
          <a:xfrm>
            <a:off x="4892040" y="777240"/>
            <a:ext cx="3425324" cy="4599432"/>
          </a:xfrm>
          <a:prstGeom prst="roundRect">
            <a:avLst>
              <a:gd fmla="val 7042"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0"/>
          <p:cNvSpPr/>
          <p:nvPr/>
        </p:nvSpPr>
        <p:spPr>
          <a:xfrm>
            <a:off x="5166360" y="1051560"/>
            <a:ext cx="1600200" cy="365760"/>
          </a:xfrm>
          <a:prstGeom prst="roundRect">
            <a:avLst>
              <a:gd fmla="val 50000" name="adj"/>
            </a:avLst>
          </a:prstGeom>
          <a:solidFill>
            <a:srgbClr val="2959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0"/>
          <p:cNvSpPr txBox="1"/>
          <p:nvPr/>
        </p:nvSpPr>
        <p:spPr>
          <a:xfrm>
            <a:off x="5166360" y="1051560"/>
            <a:ext cx="1600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Investor view</a:t>
            </a:r>
            <a:endParaRPr sz="1200">
              <a:solidFill>
                <a:schemeClr val="dk1"/>
              </a:solidFill>
              <a:latin typeface="Calibri"/>
              <a:ea typeface="Calibri"/>
              <a:cs typeface="Calibri"/>
              <a:sym typeface="Calibri"/>
            </a:endParaRPr>
          </a:p>
        </p:txBody>
      </p:sp>
      <p:sp>
        <p:nvSpPr>
          <p:cNvPr id="313" name="Google Shape;313;p10"/>
          <p:cNvSpPr txBox="1"/>
          <p:nvPr/>
        </p:nvSpPr>
        <p:spPr>
          <a:xfrm>
            <a:off x="5166360" y="1581912"/>
            <a:ext cx="2743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700"/>
              <a:buFont typeface="Calibri"/>
              <a:buNone/>
            </a:pPr>
            <a:r>
              <a:rPr b="1" lang="en-US" sz="1700">
                <a:solidFill>
                  <a:srgbClr val="17261D"/>
                </a:solidFill>
                <a:latin typeface="Calibri"/>
                <a:ea typeface="Calibri"/>
                <a:cs typeface="Calibri"/>
                <a:sym typeface="Calibri"/>
              </a:rPr>
              <a:t>Funding + IP</a:t>
            </a:r>
            <a:endParaRPr sz="1700">
              <a:solidFill>
                <a:schemeClr val="dk1"/>
              </a:solidFill>
              <a:latin typeface="Calibri"/>
              <a:ea typeface="Calibri"/>
              <a:cs typeface="Calibri"/>
              <a:sym typeface="Calibri"/>
            </a:endParaRPr>
          </a:p>
        </p:txBody>
      </p:sp>
      <p:sp>
        <p:nvSpPr>
          <p:cNvPr id="314" name="Google Shape;314;p10"/>
          <p:cNvSpPr txBox="1"/>
          <p:nvPr/>
        </p:nvSpPr>
        <p:spPr>
          <a:xfrm>
            <a:off x="5166360" y="1920240"/>
            <a:ext cx="27432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lang="en-US" sz="1300">
                <a:solidFill>
                  <a:srgbClr val="5E6B63"/>
                </a:solidFill>
                <a:latin typeface="Calibri"/>
                <a:ea typeface="Calibri"/>
                <a:cs typeface="Calibri"/>
                <a:sym typeface="Calibri"/>
              </a:rPr>
              <a:t>Emphasize capital activity and intellectual property.</a:t>
            </a:r>
            <a:endParaRPr sz="1300">
              <a:solidFill>
                <a:schemeClr val="dk1"/>
              </a:solidFill>
              <a:latin typeface="Calibri"/>
              <a:ea typeface="Calibri"/>
              <a:cs typeface="Calibri"/>
              <a:sym typeface="Calibri"/>
            </a:endParaRPr>
          </a:p>
        </p:txBody>
      </p:sp>
      <p:sp>
        <p:nvSpPr>
          <p:cNvPr id="315" name="Google Shape;315;p10"/>
          <p:cNvSpPr txBox="1"/>
          <p:nvPr/>
        </p:nvSpPr>
        <p:spPr>
          <a:xfrm>
            <a:off x="5166360" y="2834640"/>
            <a:ext cx="2651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150"/>
              <a:buFont typeface="Calibri"/>
              <a:buNone/>
            </a:pPr>
            <a:r>
              <a:rPr b="1" lang="en-US" sz="1150">
                <a:solidFill>
                  <a:srgbClr val="17261D"/>
                </a:solidFill>
                <a:latin typeface="Calibri"/>
                <a:ea typeface="Calibri"/>
                <a:cs typeface="Calibri"/>
                <a:sym typeface="Calibri"/>
              </a:rPr>
              <a:t>Funding</a:t>
            </a:r>
            <a:endParaRPr sz="1150">
              <a:solidFill>
                <a:schemeClr val="dk1"/>
              </a:solidFill>
              <a:latin typeface="Calibri"/>
              <a:ea typeface="Calibri"/>
              <a:cs typeface="Calibri"/>
              <a:sym typeface="Calibri"/>
            </a:endParaRPr>
          </a:p>
        </p:txBody>
      </p:sp>
      <p:sp>
        <p:nvSpPr>
          <p:cNvPr id="316" name="Google Shape;316;p10"/>
          <p:cNvSpPr/>
          <p:nvPr/>
        </p:nvSpPr>
        <p:spPr>
          <a:xfrm>
            <a:off x="5166360" y="3108960"/>
            <a:ext cx="2697480" cy="73152"/>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0"/>
          <p:cNvSpPr/>
          <p:nvPr/>
        </p:nvSpPr>
        <p:spPr>
          <a:xfrm>
            <a:off x="5166360" y="3108960"/>
            <a:ext cx="2292858" cy="73152"/>
          </a:xfrm>
          <a:prstGeom prst="roundRect">
            <a:avLst>
              <a:gd fmla="val 50000" name="adj"/>
            </a:avLst>
          </a:prstGeom>
          <a:solidFill>
            <a:srgbClr val="2959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10"/>
          <p:cNvSpPr/>
          <p:nvPr/>
        </p:nvSpPr>
        <p:spPr>
          <a:xfrm>
            <a:off x="7349490" y="3035808"/>
            <a:ext cx="219456" cy="219456"/>
          </a:xfrm>
          <a:prstGeom prst="ellipse">
            <a:avLst/>
          </a:prstGeom>
          <a:solidFill>
            <a:srgbClr val="29593E"/>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0"/>
          <p:cNvSpPr txBox="1"/>
          <p:nvPr/>
        </p:nvSpPr>
        <p:spPr>
          <a:xfrm>
            <a:off x="5166360" y="3383280"/>
            <a:ext cx="2651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150"/>
              <a:buFont typeface="Calibri"/>
              <a:buNone/>
            </a:pPr>
            <a:r>
              <a:rPr lang="en-US" sz="1150">
                <a:solidFill>
                  <a:srgbClr val="5E6B63"/>
                </a:solidFill>
                <a:latin typeface="Calibri"/>
                <a:ea typeface="Calibri"/>
                <a:cs typeface="Calibri"/>
                <a:sym typeface="Calibri"/>
              </a:rPr>
              <a:t>Grants</a:t>
            </a:r>
            <a:endParaRPr sz="1150">
              <a:solidFill>
                <a:schemeClr val="dk1"/>
              </a:solidFill>
              <a:latin typeface="Calibri"/>
              <a:ea typeface="Calibri"/>
              <a:cs typeface="Calibri"/>
              <a:sym typeface="Calibri"/>
            </a:endParaRPr>
          </a:p>
        </p:txBody>
      </p:sp>
      <p:sp>
        <p:nvSpPr>
          <p:cNvPr id="320" name="Google Shape;320;p10"/>
          <p:cNvSpPr/>
          <p:nvPr/>
        </p:nvSpPr>
        <p:spPr>
          <a:xfrm>
            <a:off x="5166360" y="3657600"/>
            <a:ext cx="2697480" cy="73152"/>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0"/>
          <p:cNvSpPr/>
          <p:nvPr/>
        </p:nvSpPr>
        <p:spPr>
          <a:xfrm>
            <a:off x="5166360" y="3657600"/>
            <a:ext cx="944118" cy="73152"/>
          </a:xfrm>
          <a:prstGeom prst="roundRect">
            <a:avLst>
              <a:gd fmla="val 50000" name="adj"/>
            </a:avLst>
          </a:prstGeom>
          <a:solidFill>
            <a:srgbClr val="A9BD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0"/>
          <p:cNvSpPr/>
          <p:nvPr/>
        </p:nvSpPr>
        <p:spPr>
          <a:xfrm>
            <a:off x="6000750" y="3584448"/>
            <a:ext cx="219456" cy="219456"/>
          </a:xfrm>
          <a:prstGeom prst="ellipse">
            <a:avLst/>
          </a:prstGeom>
          <a:solidFill>
            <a:srgbClr val="A9BDAF"/>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0"/>
          <p:cNvSpPr txBox="1"/>
          <p:nvPr/>
        </p:nvSpPr>
        <p:spPr>
          <a:xfrm>
            <a:off x="5166360" y="3931920"/>
            <a:ext cx="2651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150"/>
              <a:buFont typeface="Calibri"/>
              <a:buNone/>
            </a:pPr>
            <a:r>
              <a:rPr lang="en-US" sz="1150">
                <a:solidFill>
                  <a:srgbClr val="5E6B63"/>
                </a:solidFill>
                <a:latin typeface="Calibri"/>
                <a:ea typeface="Calibri"/>
                <a:cs typeface="Calibri"/>
                <a:sym typeface="Calibri"/>
              </a:rPr>
              <a:t>Hiring</a:t>
            </a:r>
            <a:endParaRPr sz="1150">
              <a:solidFill>
                <a:schemeClr val="dk1"/>
              </a:solidFill>
              <a:latin typeface="Calibri"/>
              <a:ea typeface="Calibri"/>
              <a:cs typeface="Calibri"/>
              <a:sym typeface="Calibri"/>
            </a:endParaRPr>
          </a:p>
        </p:txBody>
      </p:sp>
      <p:sp>
        <p:nvSpPr>
          <p:cNvPr id="324" name="Google Shape;324;p10"/>
          <p:cNvSpPr/>
          <p:nvPr/>
        </p:nvSpPr>
        <p:spPr>
          <a:xfrm>
            <a:off x="5166360" y="4206240"/>
            <a:ext cx="2697480" cy="73152"/>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0"/>
          <p:cNvSpPr/>
          <p:nvPr/>
        </p:nvSpPr>
        <p:spPr>
          <a:xfrm>
            <a:off x="5166360" y="4206240"/>
            <a:ext cx="944118" cy="73152"/>
          </a:xfrm>
          <a:prstGeom prst="roundRect">
            <a:avLst>
              <a:gd fmla="val 50000" name="adj"/>
            </a:avLst>
          </a:prstGeom>
          <a:solidFill>
            <a:srgbClr val="A9BD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0"/>
          <p:cNvSpPr/>
          <p:nvPr/>
        </p:nvSpPr>
        <p:spPr>
          <a:xfrm>
            <a:off x="6000750" y="4133088"/>
            <a:ext cx="219456" cy="219456"/>
          </a:xfrm>
          <a:prstGeom prst="ellipse">
            <a:avLst/>
          </a:prstGeom>
          <a:solidFill>
            <a:srgbClr val="A9BDAF"/>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0"/>
          <p:cNvSpPr txBox="1"/>
          <p:nvPr/>
        </p:nvSpPr>
        <p:spPr>
          <a:xfrm>
            <a:off x="5166360" y="4480560"/>
            <a:ext cx="2651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150"/>
              <a:buFont typeface="Calibri"/>
              <a:buNone/>
            </a:pPr>
            <a:r>
              <a:rPr b="1" lang="en-US" sz="1150">
                <a:solidFill>
                  <a:srgbClr val="17261D"/>
                </a:solidFill>
                <a:latin typeface="Calibri"/>
                <a:ea typeface="Calibri"/>
                <a:cs typeface="Calibri"/>
                <a:sym typeface="Calibri"/>
              </a:rPr>
              <a:t>IP</a:t>
            </a:r>
            <a:endParaRPr sz="1150">
              <a:solidFill>
                <a:schemeClr val="dk1"/>
              </a:solidFill>
              <a:latin typeface="Calibri"/>
              <a:ea typeface="Calibri"/>
              <a:cs typeface="Calibri"/>
              <a:sym typeface="Calibri"/>
            </a:endParaRPr>
          </a:p>
        </p:txBody>
      </p:sp>
      <p:sp>
        <p:nvSpPr>
          <p:cNvPr id="328" name="Google Shape;328;p10"/>
          <p:cNvSpPr/>
          <p:nvPr/>
        </p:nvSpPr>
        <p:spPr>
          <a:xfrm>
            <a:off x="5166360" y="4754880"/>
            <a:ext cx="2697480" cy="73152"/>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10"/>
          <p:cNvSpPr/>
          <p:nvPr/>
        </p:nvSpPr>
        <p:spPr>
          <a:xfrm>
            <a:off x="5166360" y="4754880"/>
            <a:ext cx="2292858" cy="73152"/>
          </a:xfrm>
          <a:prstGeom prst="roundRect">
            <a:avLst>
              <a:gd fmla="val 50000" name="adj"/>
            </a:avLst>
          </a:prstGeom>
          <a:solidFill>
            <a:srgbClr val="2959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10"/>
          <p:cNvSpPr/>
          <p:nvPr/>
        </p:nvSpPr>
        <p:spPr>
          <a:xfrm>
            <a:off x="7349490" y="4681728"/>
            <a:ext cx="219456" cy="219456"/>
          </a:xfrm>
          <a:prstGeom prst="ellipse">
            <a:avLst/>
          </a:prstGeom>
          <a:solidFill>
            <a:srgbClr val="29593E"/>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10"/>
          <p:cNvSpPr txBox="1"/>
          <p:nvPr/>
        </p:nvSpPr>
        <p:spPr>
          <a:xfrm>
            <a:off x="5166360" y="5029200"/>
            <a:ext cx="2651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150"/>
              <a:buFont typeface="Calibri"/>
              <a:buNone/>
            </a:pPr>
            <a:r>
              <a:rPr lang="en-US" sz="1150">
                <a:solidFill>
                  <a:srgbClr val="5E6B63"/>
                </a:solidFill>
                <a:latin typeface="Calibri"/>
                <a:ea typeface="Calibri"/>
                <a:cs typeface="Calibri"/>
                <a:sym typeface="Calibri"/>
              </a:rPr>
              <a:t>Accelerator</a:t>
            </a:r>
            <a:endParaRPr sz="1150">
              <a:solidFill>
                <a:schemeClr val="dk1"/>
              </a:solidFill>
              <a:latin typeface="Calibri"/>
              <a:ea typeface="Calibri"/>
              <a:cs typeface="Calibri"/>
              <a:sym typeface="Calibri"/>
            </a:endParaRPr>
          </a:p>
        </p:txBody>
      </p:sp>
      <p:sp>
        <p:nvSpPr>
          <p:cNvPr id="332" name="Google Shape;332;p10"/>
          <p:cNvSpPr/>
          <p:nvPr/>
        </p:nvSpPr>
        <p:spPr>
          <a:xfrm>
            <a:off x="8366760" y="777240"/>
            <a:ext cx="3429000" cy="4599432"/>
          </a:xfrm>
          <a:prstGeom prst="roundRect">
            <a:avLst>
              <a:gd fmla="val 7042"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10"/>
          <p:cNvSpPr/>
          <p:nvPr/>
        </p:nvSpPr>
        <p:spPr>
          <a:xfrm>
            <a:off x="8641080" y="1051560"/>
            <a:ext cx="1600200" cy="365760"/>
          </a:xfrm>
          <a:prstGeom prst="roundRect">
            <a:avLst>
              <a:gd fmla="val 50000" name="adj"/>
            </a:avLst>
          </a:prstGeom>
          <a:solidFill>
            <a:srgbClr val="2959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0"/>
          <p:cNvSpPr txBox="1"/>
          <p:nvPr/>
        </p:nvSpPr>
        <p:spPr>
          <a:xfrm>
            <a:off x="8641080" y="1051560"/>
            <a:ext cx="1600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Ecosystem view</a:t>
            </a:r>
            <a:endParaRPr sz="1200">
              <a:solidFill>
                <a:schemeClr val="dk1"/>
              </a:solidFill>
              <a:latin typeface="Calibri"/>
              <a:ea typeface="Calibri"/>
              <a:cs typeface="Calibri"/>
              <a:sym typeface="Calibri"/>
            </a:endParaRPr>
          </a:p>
        </p:txBody>
      </p:sp>
      <p:sp>
        <p:nvSpPr>
          <p:cNvPr id="335" name="Google Shape;335;p10"/>
          <p:cNvSpPr txBox="1"/>
          <p:nvPr/>
        </p:nvSpPr>
        <p:spPr>
          <a:xfrm>
            <a:off x="8641080" y="1581912"/>
            <a:ext cx="2743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700"/>
              <a:buFont typeface="Calibri"/>
              <a:buNone/>
            </a:pPr>
            <a:r>
              <a:rPr b="1" lang="en-US" sz="1700">
                <a:solidFill>
                  <a:srgbClr val="17261D"/>
                </a:solidFill>
                <a:latin typeface="Calibri"/>
                <a:ea typeface="Calibri"/>
                <a:cs typeface="Calibri"/>
                <a:sym typeface="Calibri"/>
              </a:rPr>
              <a:t>Hiring + Grants</a:t>
            </a:r>
            <a:endParaRPr sz="1700">
              <a:solidFill>
                <a:schemeClr val="dk1"/>
              </a:solidFill>
              <a:latin typeface="Calibri"/>
              <a:ea typeface="Calibri"/>
              <a:cs typeface="Calibri"/>
              <a:sym typeface="Calibri"/>
            </a:endParaRPr>
          </a:p>
        </p:txBody>
      </p:sp>
      <p:sp>
        <p:nvSpPr>
          <p:cNvPr id="336" name="Google Shape;336;p10"/>
          <p:cNvSpPr txBox="1"/>
          <p:nvPr/>
        </p:nvSpPr>
        <p:spPr>
          <a:xfrm>
            <a:off x="8641080" y="1920240"/>
            <a:ext cx="27432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300"/>
              <a:buFont typeface="Calibri"/>
              <a:buNone/>
            </a:pPr>
            <a:r>
              <a:rPr lang="en-US" sz="1300">
                <a:solidFill>
                  <a:srgbClr val="5E6B63"/>
                </a:solidFill>
                <a:latin typeface="Calibri"/>
                <a:ea typeface="Calibri"/>
                <a:cs typeface="Calibri"/>
                <a:sym typeface="Calibri"/>
              </a:rPr>
              <a:t>Emphasize workforce expansion and grant support.</a:t>
            </a:r>
            <a:endParaRPr sz="1300">
              <a:solidFill>
                <a:schemeClr val="dk1"/>
              </a:solidFill>
              <a:latin typeface="Calibri"/>
              <a:ea typeface="Calibri"/>
              <a:cs typeface="Calibri"/>
              <a:sym typeface="Calibri"/>
            </a:endParaRPr>
          </a:p>
        </p:txBody>
      </p:sp>
      <p:sp>
        <p:nvSpPr>
          <p:cNvPr id="337" name="Google Shape;337;p10"/>
          <p:cNvSpPr txBox="1"/>
          <p:nvPr/>
        </p:nvSpPr>
        <p:spPr>
          <a:xfrm>
            <a:off x="8641080" y="2834640"/>
            <a:ext cx="2651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150"/>
              <a:buFont typeface="Calibri"/>
              <a:buNone/>
            </a:pPr>
            <a:r>
              <a:rPr lang="en-US" sz="1150">
                <a:solidFill>
                  <a:srgbClr val="5E6B63"/>
                </a:solidFill>
                <a:latin typeface="Calibri"/>
                <a:ea typeface="Calibri"/>
                <a:cs typeface="Calibri"/>
                <a:sym typeface="Calibri"/>
              </a:rPr>
              <a:t>Funding</a:t>
            </a:r>
            <a:endParaRPr sz="1150">
              <a:solidFill>
                <a:schemeClr val="dk1"/>
              </a:solidFill>
              <a:latin typeface="Calibri"/>
              <a:ea typeface="Calibri"/>
              <a:cs typeface="Calibri"/>
              <a:sym typeface="Calibri"/>
            </a:endParaRPr>
          </a:p>
        </p:txBody>
      </p:sp>
      <p:sp>
        <p:nvSpPr>
          <p:cNvPr id="338" name="Google Shape;338;p10"/>
          <p:cNvSpPr/>
          <p:nvPr/>
        </p:nvSpPr>
        <p:spPr>
          <a:xfrm>
            <a:off x="8641080" y="3108960"/>
            <a:ext cx="2697480" cy="73152"/>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10"/>
          <p:cNvSpPr/>
          <p:nvPr/>
        </p:nvSpPr>
        <p:spPr>
          <a:xfrm>
            <a:off x="8641080" y="3108960"/>
            <a:ext cx="944118" cy="73152"/>
          </a:xfrm>
          <a:prstGeom prst="roundRect">
            <a:avLst>
              <a:gd fmla="val 50000" name="adj"/>
            </a:avLst>
          </a:prstGeom>
          <a:solidFill>
            <a:srgbClr val="A9BD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0"/>
          <p:cNvSpPr/>
          <p:nvPr/>
        </p:nvSpPr>
        <p:spPr>
          <a:xfrm>
            <a:off x="9475470" y="3035808"/>
            <a:ext cx="219456" cy="219456"/>
          </a:xfrm>
          <a:prstGeom prst="ellipse">
            <a:avLst/>
          </a:prstGeom>
          <a:solidFill>
            <a:srgbClr val="A9BDAF"/>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10"/>
          <p:cNvSpPr txBox="1"/>
          <p:nvPr/>
        </p:nvSpPr>
        <p:spPr>
          <a:xfrm>
            <a:off x="8641080" y="3383280"/>
            <a:ext cx="2651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150"/>
              <a:buFont typeface="Calibri"/>
              <a:buNone/>
            </a:pPr>
            <a:r>
              <a:rPr b="1" lang="en-US" sz="1150">
                <a:solidFill>
                  <a:srgbClr val="17261D"/>
                </a:solidFill>
                <a:latin typeface="Calibri"/>
                <a:ea typeface="Calibri"/>
                <a:cs typeface="Calibri"/>
                <a:sym typeface="Calibri"/>
              </a:rPr>
              <a:t>Grants</a:t>
            </a:r>
            <a:endParaRPr sz="1150">
              <a:solidFill>
                <a:schemeClr val="dk1"/>
              </a:solidFill>
              <a:latin typeface="Calibri"/>
              <a:ea typeface="Calibri"/>
              <a:cs typeface="Calibri"/>
              <a:sym typeface="Calibri"/>
            </a:endParaRPr>
          </a:p>
        </p:txBody>
      </p:sp>
      <p:sp>
        <p:nvSpPr>
          <p:cNvPr id="342" name="Google Shape;342;p10"/>
          <p:cNvSpPr/>
          <p:nvPr/>
        </p:nvSpPr>
        <p:spPr>
          <a:xfrm>
            <a:off x="8641080" y="3657600"/>
            <a:ext cx="2697480" cy="73152"/>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10"/>
          <p:cNvSpPr/>
          <p:nvPr/>
        </p:nvSpPr>
        <p:spPr>
          <a:xfrm>
            <a:off x="8641080" y="3657600"/>
            <a:ext cx="2292858" cy="73152"/>
          </a:xfrm>
          <a:prstGeom prst="roundRect">
            <a:avLst>
              <a:gd fmla="val 50000" name="adj"/>
            </a:avLst>
          </a:prstGeom>
          <a:solidFill>
            <a:srgbClr val="2959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10"/>
          <p:cNvSpPr/>
          <p:nvPr/>
        </p:nvSpPr>
        <p:spPr>
          <a:xfrm>
            <a:off x="10824210" y="3584448"/>
            <a:ext cx="219456" cy="219456"/>
          </a:xfrm>
          <a:prstGeom prst="ellipse">
            <a:avLst/>
          </a:prstGeom>
          <a:solidFill>
            <a:srgbClr val="29593E"/>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10"/>
          <p:cNvSpPr txBox="1"/>
          <p:nvPr/>
        </p:nvSpPr>
        <p:spPr>
          <a:xfrm>
            <a:off x="8641080" y="3931920"/>
            <a:ext cx="2651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150"/>
              <a:buFont typeface="Calibri"/>
              <a:buNone/>
            </a:pPr>
            <a:r>
              <a:rPr b="1" lang="en-US" sz="1150">
                <a:solidFill>
                  <a:srgbClr val="17261D"/>
                </a:solidFill>
                <a:latin typeface="Calibri"/>
                <a:ea typeface="Calibri"/>
                <a:cs typeface="Calibri"/>
                <a:sym typeface="Calibri"/>
              </a:rPr>
              <a:t>Hiring</a:t>
            </a:r>
            <a:endParaRPr sz="1150">
              <a:solidFill>
                <a:schemeClr val="dk1"/>
              </a:solidFill>
              <a:latin typeface="Calibri"/>
              <a:ea typeface="Calibri"/>
              <a:cs typeface="Calibri"/>
              <a:sym typeface="Calibri"/>
            </a:endParaRPr>
          </a:p>
        </p:txBody>
      </p:sp>
      <p:sp>
        <p:nvSpPr>
          <p:cNvPr id="346" name="Google Shape;346;p10"/>
          <p:cNvSpPr/>
          <p:nvPr/>
        </p:nvSpPr>
        <p:spPr>
          <a:xfrm>
            <a:off x="8641080" y="4206240"/>
            <a:ext cx="2697480" cy="73152"/>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0"/>
          <p:cNvSpPr/>
          <p:nvPr/>
        </p:nvSpPr>
        <p:spPr>
          <a:xfrm>
            <a:off x="8641080" y="4206240"/>
            <a:ext cx="2292858" cy="73152"/>
          </a:xfrm>
          <a:prstGeom prst="roundRect">
            <a:avLst>
              <a:gd fmla="val 50000" name="adj"/>
            </a:avLst>
          </a:prstGeom>
          <a:solidFill>
            <a:srgbClr val="2959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0"/>
          <p:cNvSpPr/>
          <p:nvPr/>
        </p:nvSpPr>
        <p:spPr>
          <a:xfrm>
            <a:off x="10824210" y="4133088"/>
            <a:ext cx="219456" cy="219456"/>
          </a:xfrm>
          <a:prstGeom prst="ellipse">
            <a:avLst/>
          </a:prstGeom>
          <a:solidFill>
            <a:srgbClr val="29593E"/>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0"/>
          <p:cNvSpPr txBox="1"/>
          <p:nvPr/>
        </p:nvSpPr>
        <p:spPr>
          <a:xfrm>
            <a:off x="8641080" y="4480560"/>
            <a:ext cx="2651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150"/>
              <a:buFont typeface="Calibri"/>
              <a:buNone/>
            </a:pPr>
            <a:r>
              <a:rPr lang="en-US" sz="1150">
                <a:solidFill>
                  <a:srgbClr val="5E6B63"/>
                </a:solidFill>
                <a:latin typeface="Calibri"/>
                <a:ea typeface="Calibri"/>
                <a:cs typeface="Calibri"/>
                <a:sym typeface="Calibri"/>
              </a:rPr>
              <a:t>IP</a:t>
            </a:r>
            <a:endParaRPr sz="1150">
              <a:solidFill>
                <a:schemeClr val="dk1"/>
              </a:solidFill>
              <a:latin typeface="Calibri"/>
              <a:ea typeface="Calibri"/>
              <a:cs typeface="Calibri"/>
              <a:sym typeface="Calibri"/>
            </a:endParaRPr>
          </a:p>
        </p:txBody>
      </p:sp>
      <p:sp>
        <p:nvSpPr>
          <p:cNvPr id="350" name="Google Shape;350;p10"/>
          <p:cNvSpPr/>
          <p:nvPr/>
        </p:nvSpPr>
        <p:spPr>
          <a:xfrm>
            <a:off x="8641080" y="4754880"/>
            <a:ext cx="2697480" cy="73152"/>
          </a:xfrm>
          <a:prstGeom prst="roundRect">
            <a:avLst>
              <a:gd fmla="val 50000" name="adj"/>
            </a:avLst>
          </a:prstGeom>
          <a:solidFill>
            <a:srgbClr val="E7EEE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0"/>
          <p:cNvSpPr/>
          <p:nvPr/>
        </p:nvSpPr>
        <p:spPr>
          <a:xfrm>
            <a:off x="8641080" y="4754880"/>
            <a:ext cx="944118" cy="73152"/>
          </a:xfrm>
          <a:prstGeom prst="roundRect">
            <a:avLst>
              <a:gd fmla="val 50000" name="adj"/>
            </a:avLst>
          </a:prstGeom>
          <a:solidFill>
            <a:srgbClr val="A9BD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0"/>
          <p:cNvSpPr/>
          <p:nvPr/>
        </p:nvSpPr>
        <p:spPr>
          <a:xfrm>
            <a:off x="9475470" y="4681728"/>
            <a:ext cx="219456" cy="219456"/>
          </a:xfrm>
          <a:prstGeom prst="ellipse">
            <a:avLst/>
          </a:prstGeom>
          <a:solidFill>
            <a:srgbClr val="A9BDAF"/>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10"/>
          <p:cNvSpPr txBox="1"/>
          <p:nvPr/>
        </p:nvSpPr>
        <p:spPr>
          <a:xfrm>
            <a:off x="8641080" y="5029200"/>
            <a:ext cx="26517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150"/>
              <a:buFont typeface="Calibri"/>
              <a:buNone/>
            </a:pPr>
            <a:r>
              <a:rPr lang="en-US" sz="1150">
                <a:solidFill>
                  <a:srgbClr val="5E6B63"/>
                </a:solidFill>
                <a:latin typeface="Calibri"/>
                <a:ea typeface="Calibri"/>
                <a:cs typeface="Calibri"/>
                <a:sym typeface="Calibri"/>
              </a:rPr>
              <a:t>Accelerator</a:t>
            </a:r>
            <a:endParaRPr sz="1150">
              <a:solidFill>
                <a:schemeClr val="dk1"/>
              </a:solidFill>
              <a:latin typeface="Calibri"/>
              <a:ea typeface="Calibri"/>
              <a:cs typeface="Calibri"/>
              <a:sym typeface="Calibri"/>
            </a:endParaRPr>
          </a:p>
        </p:txBody>
      </p:sp>
      <p:sp>
        <p:nvSpPr>
          <p:cNvPr id="354" name="Google Shape;354;p10"/>
          <p:cNvSpPr txBox="1"/>
          <p:nvPr/>
        </p:nvSpPr>
        <p:spPr>
          <a:xfrm>
            <a:off x="548640" y="5989320"/>
            <a:ext cx="39319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100"/>
              <a:buFont typeface="Calibri"/>
              <a:buNone/>
            </a:pPr>
            <a:r>
              <a:rPr i="1" lang="en-US" sz="1100">
                <a:solidFill>
                  <a:srgbClr val="5E6B63"/>
                </a:solidFill>
                <a:latin typeface="Calibri"/>
                <a:ea typeface="Calibri"/>
                <a:cs typeface="Calibri"/>
                <a:sym typeface="Calibri"/>
              </a:rPr>
              <a:t>Slider positions are illustrative.</a:t>
            </a:r>
            <a:endParaRPr sz="1100">
              <a:solidFill>
                <a:schemeClr val="dk1"/>
              </a:solidFill>
              <a:latin typeface="Calibri"/>
              <a:ea typeface="Calibri"/>
              <a:cs typeface="Calibri"/>
              <a:sym typeface="Calibri"/>
            </a:endParaRPr>
          </a:p>
        </p:txBody>
      </p:sp>
      <p:pic>
        <p:nvPicPr>
          <p:cNvPr descr="A screenshot of a graph&#10;&#10;AI-generated content may be incorrect." id="355" name="Google Shape;355;p10"/>
          <p:cNvPicPr preferRelativeResize="0"/>
          <p:nvPr/>
        </p:nvPicPr>
        <p:blipFill rotWithShape="1">
          <a:blip r:embed="rId4">
            <a:alphaModFix/>
          </a:blip>
          <a:srcRect b="0" l="0" r="0" t="0"/>
          <a:stretch/>
        </p:blipFill>
        <p:spPr>
          <a:xfrm>
            <a:off x="8391933" y="2725627"/>
            <a:ext cx="3383280" cy="2479671"/>
          </a:xfrm>
          <a:prstGeom prst="rect">
            <a:avLst/>
          </a:prstGeom>
          <a:noFill/>
          <a:ln>
            <a:noFill/>
          </a:ln>
        </p:spPr>
      </p:pic>
      <p:pic>
        <p:nvPicPr>
          <p:cNvPr descr="A green and white bar with white text&#10;&#10;AI-generated content may be incorrect." id="356" name="Google Shape;356;p10"/>
          <p:cNvPicPr preferRelativeResize="0"/>
          <p:nvPr/>
        </p:nvPicPr>
        <p:blipFill rotWithShape="1">
          <a:blip r:embed="rId5">
            <a:alphaModFix/>
          </a:blip>
          <a:srcRect b="0" l="0" r="0" t="0"/>
          <a:stretch/>
        </p:blipFill>
        <p:spPr>
          <a:xfrm>
            <a:off x="4892040" y="2734056"/>
            <a:ext cx="3425325" cy="24555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1"/>
        </a:solidFill>
      </p:bgPr>
    </p:bg>
    <p:spTree>
      <p:nvGrpSpPr>
        <p:cNvPr id="361" name="Shape 361"/>
        <p:cNvGrpSpPr/>
        <p:nvPr/>
      </p:nvGrpSpPr>
      <p:grpSpPr>
        <a:xfrm>
          <a:off x="0" y="0"/>
          <a:ext cx="0" cy="0"/>
          <a:chOff x="0" y="0"/>
          <a:chExt cx="0" cy="0"/>
        </a:xfrm>
      </p:grpSpPr>
      <p:sp>
        <p:nvSpPr>
          <p:cNvPr id="362" name="Google Shape;362;p11"/>
          <p:cNvSpPr/>
          <p:nvPr/>
        </p:nvSpPr>
        <p:spPr>
          <a:xfrm>
            <a:off x="548640" y="365760"/>
            <a:ext cx="2496312" cy="329184"/>
          </a:xfrm>
          <a:prstGeom prst="roundRect">
            <a:avLst>
              <a:gd fmla="val 50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11"/>
          <p:cNvSpPr txBox="1"/>
          <p:nvPr/>
        </p:nvSpPr>
        <p:spPr>
          <a:xfrm>
            <a:off x="548640" y="365760"/>
            <a:ext cx="249631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9593E"/>
              </a:buClr>
              <a:buSzPts val="1100"/>
              <a:buFont typeface="Calibri"/>
              <a:buNone/>
            </a:pPr>
            <a:r>
              <a:rPr b="1" lang="en-US" sz="1100">
                <a:solidFill>
                  <a:srgbClr val="29593E"/>
                </a:solidFill>
                <a:latin typeface="Calibri"/>
                <a:ea typeface="Calibri"/>
                <a:cs typeface="Calibri"/>
                <a:sym typeface="Calibri"/>
              </a:rPr>
              <a:t>Sector clusters &amp; trends</a:t>
            </a:r>
            <a:endParaRPr sz="1100">
              <a:solidFill>
                <a:schemeClr val="dk1"/>
              </a:solidFill>
              <a:latin typeface="Calibri"/>
              <a:ea typeface="Calibri"/>
              <a:cs typeface="Calibri"/>
              <a:sym typeface="Calibri"/>
            </a:endParaRPr>
          </a:p>
        </p:txBody>
      </p:sp>
      <p:sp>
        <p:nvSpPr>
          <p:cNvPr id="364" name="Google Shape;364;p11"/>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200"/>
              <a:buFont typeface="Calibri"/>
              <a:buNone/>
            </a:pPr>
            <a:r>
              <a:rPr b="1" lang="en-US" sz="1200">
                <a:solidFill>
                  <a:srgbClr val="5E6B63"/>
                </a:solidFill>
                <a:latin typeface="Calibri"/>
                <a:ea typeface="Calibri"/>
                <a:cs typeface="Calibri"/>
                <a:sym typeface="Calibri"/>
              </a:rPr>
              <a:t>11</a:t>
            </a:r>
            <a:endParaRPr sz="1200">
              <a:solidFill>
                <a:schemeClr val="dk1"/>
              </a:solidFill>
              <a:latin typeface="Calibri"/>
              <a:ea typeface="Calibri"/>
              <a:cs typeface="Calibri"/>
              <a:sym typeface="Calibri"/>
            </a:endParaRPr>
          </a:p>
        </p:txBody>
      </p:sp>
      <p:sp>
        <p:nvSpPr>
          <p:cNvPr id="365" name="Google Shape;365;p11"/>
          <p:cNvSpPr txBox="1"/>
          <p:nvPr/>
        </p:nvSpPr>
        <p:spPr>
          <a:xfrm>
            <a:off x="548640" y="868680"/>
            <a:ext cx="109728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3600"/>
              <a:buFont typeface="Arial"/>
              <a:buNone/>
            </a:pPr>
            <a:r>
              <a:rPr b="1" lang="en-US" sz="3600">
                <a:solidFill>
                  <a:srgbClr val="17261D"/>
                </a:solidFill>
                <a:latin typeface="Arial"/>
                <a:ea typeface="Arial"/>
                <a:cs typeface="Arial"/>
                <a:sym typeface="Arial"/>
              </a:rPr>
              <a:t>Momentum across industries.</a:t>
            </a:r>
            <a:endParaRPr sz="3600">
              <a:solidFill>
                <a:schemeClr val="dk1"/>
              </a:solidFill>
              <a:latin typeface="Calibri"/>
              <a:ea typeface="Calibri"/>
              <a:cs typeface="Calibri"/>
              <a:sym typeface="Calibri"/>
            </a:endParaRPr>
          </a:p>
        </p:txBody>
      </p:sp>
      <p:sp>
        <p:nvSpPr>
          <p:cNvPr id="366" name="Google Shape;366;p11"/>
          <p:cNvSpPr/>
          <p:nvPr/>
        </p:nvSpPr>
        <p:spPr>
          <a:xfrm>
            <a:off x="548640" y="1783080"/>
            <a:ext cx="6949440" cy="4343400"/>
          </a:xfrm>
          <a:prstGeom prst="roundRect">
            <a:avLst>
              <a:gd fmla="val 5263"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11"/>
          <p:cNvSpPr txBox="1"/>
          <p:nvPr/>
        </p:nvSpPr>
        <p:spPr>
          <a:xfrm>
            <a:off x="868680" y="2011680"/>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700"/>
              <a:buFont typeface="Calibri"/>
              <a:buNone/>
            </a:pPr>
            <a:r>
              <a:rPr b="1" lang="en-US" sz="1700">
                <a:solidFill>
                  <a:srgbClr val="17261D"/>
                </a:solidFill>
                <a:latin typeface="Calibri"/>
                <a:ea typeface="Calibri"/>
                <a:cs typeface="Calibri"/>
                <a:sym typeface="Calibri"/>
              </a:rPr>
              <a:t>Company count by sector</a:t>
            </a:r>
            <a:endParaRPr sz="1700">
              <a:solidFill>
                <a:schemeClr val="dk1"/>
              </a:solidFill>
              <a:latin typeface="Calibri"/>
              <a:ea typeface="Calibri"/>
              <a:cs typeface="Calibri"/>
              <a:sym typeface="Calibri"/>
            </a:endParaRPr>
          </a:p>
        </p:txBody>
      </p:sp>
      <p:sp>
        <p:nvSpPr>
          <p:cNvPr id="368" name="Google Shape;368;p11"/>
          <p:cNvSpPr/>
          <p:nvPr/>
        </p:nvSpPr>
        <p:spPr>
          <a:xfrm>
            <a:off x="5760720" y="2011680"/>
            <a:ext cx="1463040" cy="310896"/>
          </a:xfrm>
          <a:prstGeom prst="roundRect">
            <a:avLst>
              <a:gd fmla="val 50000" name="adj"/>
            </a:avLst>
          </a:prstGeom>
          <a:solidFill>
            <a:srgbClr val="FAE9D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1"/>
          <p:cNvSpPr txBox="1"/>
          <p:nvPr/>
        </p:nvSpPr>
        <p:spPr>
          <a:xfrm>
            <a:off x="5760720" y="2011680"/>
            <a:ext cx="14630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5A1C"/>
              </a:buClr>
              <a:buSzPts val="1050"/>
              <a:buFont typeface="Calibri"/>
              <a:buNone/>
            </a:pPr>
            <a:r>
              <a:rPr b="1" lang="en-US" sz="1050">
                <a:solidFill>
                  <a:srgbClr val="9A5A1C"/>
                </a:solidFill>
                <a:latin typeface="Calibri"/>
                <a:ea typeface="Calibri"/>
                <a:cs typeface="Calibri"/>
                <a:sym typeface="Calibri"/>
              </a:rPr>
              <a:t>Illustrative data</a:t>
            </a:r>
            <a:endParaRPr sz="1050">
              <a:solidFill>
                <a:schemeClr val="dk1"/>
              </a:solidFill>
              <a:latin typeface="Calibri"/>
              <a:ea typeface="Calibri"/>
              <a:cs typeface="Calibri"/>
              <a:sym typeface="Calibri"/>
            </a:endParaRPr>
          </a:p>
        </p:txBody>
      </p:sp>
      <p:graphicFrame>
        <p:nvGraphicFramePr>
          <p:cNvPr id="370" name="Google Shape;370;p11"/>
          <p:cNvGraphicFramePr/>
          <p:nvPr/>
        </p:nvGraphicFramePr>
        <p:xfrm>
          <a:off x="777240" y="2468880"/>
          <a:ext cx="6492240" cy="3474720"/>
        </p:xfrm>
        <a:graphic>
          <a:graphicData uri="http://schemas.openxmlformats.org/drawingml/2006/chart">
            <c:chart r:id="rId3"/>
          </a:graphicData>
        </a:graphic>
      </p:graphicFrame>
      <p:sp>
        <p:nvSpPr>
          <p:cNvPr id="371" name="Google Shape;371;p11"/>
          <p:cNvSpPr txBox="1"/>
          <p:nvPr/>
        </p:nvSpPr>
        <p:spPr>
          <a:xfrm>
            <a:off x="7863840" y="178308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100"/>
              <a:buFont typeface="Calibri"/>
              <a:buNone/>
            </a:pPr>
            <a:r>
              <a:rPr b="1" lang="en-US" sz="1100">
                <a:solidFill>
                  <a:srgbClr val="5E6B63"/>
                </a:solidFill>
                <a:latin typeface="Calibri"/>
                <a:ea typeface="Calibri"/>
                <a:cs typeface="Calibri"/>
                <a:sym typeface="Calibri"/>
              </a:rPr>
              <a:t>COMPARE SECTORS BY</a:t>
            </a:r>
            <a:endParaRPr sz="1100">
              <a:solidFill>
                <a:schemeClr val="dk1"/>
              </a:solidFill>
              <a:latin typeface="Calibri"/>
              <a:ea typeface="Calibri"/>
              <a:cs typeface="Calibri"/>
              <a:sym typeface="Calibri"/>
            </a:endParaRPr>
          </a:p>
        </p:txBody>
      </p:sp>
      <p:sp>
        <p:nvSpPr>
          <p:cNvPr id="372" name="Google Shape;372;p11"/>
          <p:cNvSpPr/>
          <p:nvPr/>
        </p:nvSpPr>
        <p:spPr>
          <a:xfrm>
            <a:off x="7863840" y="2194560"/>
            <a:ext cx="3794760" cy="1097280"/>
          </a:xfrm>
          <a:prstGeom prst="roundRect">
            <a:avLst>
              <a:gd fmla="val 15000"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1"/>
          <p:cNvSpPr/>
          <p:nvPr/>
        </p:nvSpPr>
        <p:spPr>
          <a:xfrm>
            <a:off x="8092440" y="2450592"/>
            <a:ext cx="585216" cy="585216"/>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74" name="Google Shape;374;p11"/>
          <p:cNvPicPr preferRelativeResize="0"/>
          <p:nvPr/>
        </p:nvPicPr>
        <p:blipFill rotWithShape="1">
          <a:blip r:embed="rId4">
            <a:alphaModFix/>
          </a:blip>
          <a:srcRect b="0" l="0" r="0" t="0"/>
          <a:stretch/>
        </p:blipFill>
        <p:spPr>
          <a:xfrm>
            <a:off x="8238744" y="2596896"/>
            <a:ext cx="292608" cy="292608"/>
          </a:xfrm>
          <a:prstGeom prst="rect">
            <a:avLst/>
          </a:prstGeom>
          <a:noFill/>
          <a:ln>
            <a:noFill/>
          </a:ln>
        </p:spPr>
      </p:pic>
      <p:sp>
        <p:nvSpPr>
          <p:cNvPr id="375" name="Google Shape;375;p11"/>
          <p:cNvSpPr txBox="1"/>
          <p:nvPr/>
        </p:nvSpPr>
        <p:spPr>
          <a:xfrm>
            <a:off x="8869680" y="2194560"/>
            <a:ext cx="265176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Depth</a:t>
            </a:r>
            <a:endParaRPr sz="1800">
              <a:solidFill>
                <a:schemeClr val="dk1"/>
              </a:solidFill>
              <a:latin typeface="Calibri"/>
              <a:ea typeface="Calibri"/>
              <a:cs typeface="Calibri"/>
              <a:sym typeface="Calibri"/>
            </a:endParaRPr>
          </a:p>
        </p:txBody>
      </p:sp>
      <p:sp>
        <p:nvSpPr>
          <p:cNvPr id="376" name="Google Shape;376;p11"/>
          <p:cNvSpPr/>
          <p:nvPr/>
        </p:nvSpPr>
        <p:spPr>
          <a:xfrm>
            <a:off x="7863840" y="3520440"/>
            <a:ext cx="3794760" cy="1097280"/>
          </a:xfrm>
          <a:prstGeom prst="roundRect">
            <a:avLst>
              <a:gd fmla="val 15000" name="adj"/>
            </a:avLst>
          </a:prstGeom>
          <a:solidFill>
            <a:srgbClr val="FFFFFF"/>
          </a:solidFill>
          <a:ln cap="flat" cmpd="sng" w="9525">
            <a:solidFill>
              <a:srgbClr val="DCE5DC"/>
            </a:solidFill>
            <a:prstDash val="solid"/>
            <a:round/>
            <a:headEnd len="sm" w="sm" type="none"/>
            <a:tailEnd len="sm" w="sm" type="none"/>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1"/>
          <p:cNvSpPr/>
          <p:nvPr/>
        </p:nvSpPr>
        <p:spPr>
          <a:xfrm>
            <a:off x="8092440" y="3776472"/>
            <a:ext cx="585216" cy="585216"/>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78" name="Google Shape;378;p11"/>
          <p:cNvPicPr preferRelativeResize="0"/>
          <p:nvPr/>
        </p:nvPicPr>
        <p:blipFill rotWithShape="1">
          <a:blip r:embed="rId5">
            <a:alphaModFix/>
          </a:blip>
          <a:srcRect b="0" l="0" r="0" t="0"/>
          <a:stretch/>
        </p:blipFill>
        <p:spPr>
          <a:xfrm>
            <a:off x="8238744" y="3922776"/>
            <a:ext cx="292608" cy="292608"/>
          </a:xfrm>
          <a:prstGeom prst="rect">
            <a:avLst/>
          </a:prstGeom>
          <a:noFill/>
          <a:ln>
            <a:noFill/>
          </a:ln>
        </p:spPr>
      </p:pic>
      <p:sp>
        <p:nvSpPr>
          <p:cNvPr id="379" name="Google Shape;379;p11"/>
          <p:cNvSpPr txBox="1"/>
          <p:nvPr/>
        </p:nvSpPr>
        <p:spPr>
          <a:xfrm>
            <a:off x="8869680" y="3520440"/>
            <a:ext cx="265176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61D"/>
              </a:buClr>
              <a:buSzPts val="1800"/>
              <a:buFont typeface="Calibri"/>
              <a:buNone/>
            </a:pPr>
            <a:r>
              <a:rPr b="1" lang="en-US" sz="1800">
                <a:solidFill>
                  <a:srgbClr val="17261D"/>
                </a:solidFill>
                <a:latin typeface="Calibri"/>
                <a:ea typeface="Calibri"/>
                <a:cs typeface="Calibri"/>
                <a:sym typeface="Calibri"/>
              </a:rPr>
              <a:t>Breadth</a:t>
            </a:r>
            <a:endParaRPr sz="1800">
              <a:solidFill>
                <a:schemeClr val="dk1"/>
              </a:solidFill>
              <a:latin typeface="Calibri"/>
              <a:ea typeface="Calibri"/>
              <a:cs typeface="Calibri"/>
              <a:sym typeface="Calibri"/>
            </a:endParaRPr>
          </a:p>
        </p:txBody>
      </p:sp>
      <p:sp>
        <p:nvSpPr>
          <p:cNvPr id="380" name="Google Shape;380;p11"/>
          <p:cNvSpPr/>
          <p:nvPr/>
        </p:nvSpPr>
        <p:spPr>
          <a:xfrm>
            <a:off x="7863840" y="4846320"/>
            <a:ext cx="3794760" cy="1097280"/>
          </a:xfrm>
          <a:prstGeom prst="roundRect">
            <a:avLst>
              <a:gd fmla="val 15000" name="adj"/>
            </a:avLst>
          </a:prstGeom>
          <a:solidFill>
            <a:srgbClr val="29593E"/>
          </a:solidFill>
          <a:ln>
            <a:noFill/>
          </a:ln>
          <a:effectLst>
            <a:outerShdw blurRad="177800" rotWithShape="0" algn="bl" dir="5400000" dist="38100">
              <a:srgbClr val="1F4631">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1"/>
          <p:cNvSpPr/>
          <p:nvPr/>
        </p:nvSpPr>
        <p:spPr>
          <a:xfrm>
            <a:off x="8092440" y="5102352"/>
            <a:ext cx="585216" cy="585216"/>
          </a:xfrm>
          <a:prstGeom prst="roundRect">
            <a:avLst>
              <a:gd fmla="val 28000" name="adj"/>
            </a:avLst>
          </a:prstGeom>
          <a:solidFill>
            <a:srgbClr val="2C5E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82" name="Google Shape;382;p11"/>
          <p:cNvPicPr preferRelativeResize="0"/>
          <p:nvPr/>
        </p:nvPicPr>
        <p:blipFill rotWithShape="1">
          <a:blip r:embed="rId6">
            <a:alphaModFix/>
          </a:blip>
          <a:srcRect b="0" l="0" r="0" t="0"/>
          <a:stretch/>
        </p:blipFill>
        <p:spPr>
          <a:xfrm>
            <a:off x="8238744" y="5248656"/>
            <a:ext cx="292608" cy="292608"/>
          </a:xfrm>
          <a:prstGeom prst="rect">
            <a:avLst/>
          </a:prstGeom>
          <a:noFill/>
          <a:ln>
            <a:noFill/>
          </a:ln>
        </p:spPr>
      </p:pic>
      <p:sp>
        <p:nvSpPr>
          <p:cNvPr id="383" name="Google Shape;383;p11"/>
          <p:cNvSpPr txBox="1"/>
          <p:nvPr/>
        </p:nvSpPr>
        <p:spPr>
          <a:xfrm>
            <a:off x="8869680" y="4846320"/>
            <a:ext cx="265176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Year-over-year growth</a:t>
            </a:r>
            <a:endParaRPr sz="1800">
              <a:solidFill>
                <a:schemeClr val="dk1"/>
              </a:solidFill>
              <a:latin typeface="Calibri"/>
              <a:ea typeface="Calibri"/>
              <a:cs typeface="Calibri"/>
              <a:sym typeface="Calibri"/>
            </a:endParaRPr>
          </a:p>
        </p:txBody>
      </p:sp>
      <p:sp>
        <p:nvSpPr>
          <p:cNvPr id="384" name="Google Shape;384;p11"/>
          <p:cNvSpPr txBox="1"/>
          <p:nvPr/>
        </p:nvSpPr>
        <p:spPr>
          <a:xfrm>
            <a:off x="548640" y="6263640"/>
            <a:ext cx="10972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200"/>
              <a:buFont typeface="Calibri"/>
              <a:buNone/>
            </a:pPr>
            <a:r>
              <a:rPr i="1" lang="en-US" sz="1200">
                <a:solidFill>
                  <a:srgbClr val="5E6B63"/>
                </a:solidFill>
                <a:latin typeface="Calibri"/>
                <a:ea typeface="Calibri"/>
                <a:cs typeface="Calibri"/>
                <a:sym typeface="Calibri"/>
              </a:rPr>
              <a:t>Sample data demonstrates the view, not actual New Jersey sector performance.</a:t>
            </a:r>
            <a:endParaRPr sz="1200">
              <a:solidFill>
                <a:schemeClr val="dk1"/>
              </a:solidFill>
              <a:latin typeface="Calibri"/>
              <a:ea typeface="Calibri"/>
              <a:cs typeface="Calibri"/>
              <a:sym typeface="Calibri"/>
            </a:endParaRPr>
          </a:p>
        </p:txBody>
      </p:sp>
      <p:pic>
        <p:nvPicPr>
          <p:cNvPr descr="A screenshot of a screen&#10;&#10;AI-generated content may be incorrect." id="385" name="Google Shape;385;p11"/>
          <p:cNvPicPr preferRelativeResize="0"/>
          <p:nvPr/>
        </p:nvPicPr>
        <p:blipFill rotWithShape="1">
          <a:blip r:embed="rId7">
            <a:alphaModFix/>
          </a:blip>
          <a:srcRect b="0" l="0" r="0" t="0"/>
          <a:stretch/>
        </p:blipFill>
        <p:spPr>
          <a:xfrm>
            <a:off x="750013" y="2537460"/>
            <a:ext cx="6492240" cy="34747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4631"/>
        </a:solidFill>
      </p:bgPr>
    </p:bg>
    <p:spTree>
      <p:nvGrpSpPr>
        <p:cNvPr id="390" name="Shape 390"/>
        <p:cNvGrpSpPr/>
        <p:nvPr/>
      </p:nvGrpSpPr>
      <p:grpSpPr>
        <a:xfrm>
          <a:off x="0" y="0"/>
          <a:ext cx="0" cy="0"/>
          <a:chOff x="0" y="0"/>
          <a:chExt cx="0" cy="0"/>
        </a:xfrm>
      </p:grpSpPr>
      <p:sp>
        <p:nvSpPr>
          <p:cNvPr id="391" name="Google Shape;391;p12"/>
          <p:cNvSpPr/>
          <p:nvPr/>
        </p:nvSpPr>
        <p:spPr>
          <a:xfrm>
            <a:off x="548640" y="365760"/>
            <a:ext cx="1540764" cy="329184"/>
          </a:xfrm>
          <a:prstGeom prst="roundRect">
            <a:avLst>
              <a:gd fmla="val 50000" name="adj"/>
            </a:avLst>
          </a:prstGeom>
          <a:solidFill>
            <a:srgbClr val="2C5E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12"/>
          <p:cNvSpPr txBox="1"/>
          <p:nvPr/>
        </p:nvSpPr>
        <p:spPr>
          <a:xfrm>
            <a:off x="548640" y="365760"/>
            <a:ext cx="154076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DDB5"/>
              </a:buClr>
              <a:buSzPts val="1100"/>
              <a:buFont typeface="Calibri"/>
              <a:buNone/>
            </a:pPr>
            <a:r>
              <a:rPr b="1" lang="en-US" sz="1100">
                <a:solidFill>
                  <a:srgbClr val="A8DDB5"/>
                </a:solidFill>
                <a:latin typeface="Calibri"/>
                <a:ea typeface="Calibri"/>
                <a:cs typeface="Calibri"/>
                <a:sym typeface="Calibri"/>
              </a:rPr>
              <a:t>Hackathon MVP</a:t>
            </a:r>
            <a:endParaRPr sz="1100">
              <a:solidFill>
                <a:schemeClr val="dk1"/>
              </a:solidFill>
              <a:latin typeface="Calibri"/>
              <a:ea typeface="Calibri"/>
              <a:cs typeface="Calibri"/>
              <a:sym typeface="Calibri"/>
            </a:endParaRPr>
          </a:p>
        </p:txBody>
      </p:sp>
      <p:sp>
        <p:nvSpPr>
          <p:cNvPr id="393" name="Google Shape;393;p12"/>
          <p:cNvSpPr txBox="1"/>
          <p:nvPr/>
        </p:nvSpPr>
        <p:spPr>
          <a:xfrm>
            <a:off x="10911535" y="3931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C9E0CF"/>
              </a:buClr>
              <a:buSzPts val="1200"/>
              <a:buFont typeface="Calibri"/>
              <a:buNone/>
            </a:pPr>
            <a:r>
              <a:rPr b="1" lang="en-US" sz="1200">
                <a:solidFill>
                  <a:srgbClr val="C9E0CF"/>
                </a:solidFill>
                <a:latin typeface="Calibri"/>
                <a:ea typeface="Calibri"/>
                <a:cs typeface="Calibri"/>
                <a:sym typeface="Calibri"/>
              </a:rPr>
              <a:t>12</a:t>
            </a:r>
            <a:endParaRPr sz="1200">
              <a:solidFill>
                <a:schemeClr val="dk1"/>
              </a:solidFill>
              <a:latin typeface="Calibri"/>
              <a:ea typeface="Calibri"/>
              <a:cs typeface="Calibri"/>
              <a:sym typeface="Calibri"/>
            </a:endParaRPr>
          </a:p>
        </p:txBody>
      </p:sp>
      <p:sp>
        <p:nvSpPr>
          <p:cNvPr id="394" name="Google Shape;394;p12"/>
          <p:cNvSpPr txBox="1"/>
          <p:nvPr/>
        </p:nvSpPr>
        <p:spPr>
          <a:xfrm>
            <a:off x="548640" y="868680"/>
            <a:ext cx="73152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Arial"/>
              <a:buNone/>
            </a:pPr>
            <a:r>
              <a:rPr b="1" lang="en-US" sz="3600">
                <a:solidFill>
                  <a:srgbClr val="FFFFFF"/>
                </a:solidFill>
                <a:latin typeface="Arial"/>
                <a:ea typeface="Arial"/>
                <a:cs typeface="Arial"/>
                <a:sym typeface="Arial"/>
              </a:rPr>
              <a:t>See the opportunity early.</a:t>
            </a:r>
            <a:endParaRPr sz="3600">
              <a:solidFill>
                <a:schemeClr val="dk1"/>
              </a:solidFill>
              <a:latin typeface="Calibri"/>
              <a:ea typeface="Calibri"/>
              <a:cs typeface="Calibri"/>
              <a:sym typeface="Calibri"/>
            </a:endParaRPr>
          </a:p>
        </p:txBody>
      </p:sp>
      <p:sp>
        <p:nvSpPr>
          <p:cNvPr id="395" name="Google Shape;395;p12"/>
          <p:cNvSpPr txBox="1"/>
          <p:nvPr/>
        </p:nvSpPr>
        <p:spPr>
          <a:xfrm>
            <a:off x="548640" y="1783080"/>
            <a:ext cx="8229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DDB5"/>
              </a:buClr>
              <a:buSzPts val="6000"/>
              <a:buFont typeface="Arial"/>
              <a:buNone/>
            </a:pPr>
            <a:r>
              <a:rPr b="1" lang="en-US" sz="6000">
                <a:solidFill>
                  <a:srgbClr val="A8DDB5"/>
                </a:solidFill>
                <a:latin typeface="Arial"/>
                <a:ea typeface="Arial"/>
                <a:cs typeface="Arial"/>
                <a:sym typeface="Arial"/>
              </a:rPr>
              <a:t>A few hundred</a:t>
            </a:r>
            <a:endParaRPr sz="6000">
              <a:solidFill>
                <a:schemeClr val="dk1"/>
              </a:solidFill>
              <a:latin typeface="Calibri"/>
              <a:ea typeface="Calibri"/>
              <a:cs typeface="Calibri"/>
              <a:sym typeface="Calibri"/>
            </a:endParaRPr>
          </a:p>
        </p:txBody>
      </p:sp>
      <p:sp>
        <p:nvSpPr>
          <p:cNvPr id="396" name="Google Shape;396;p12"/>
          <p:cNvSpPr txBox="1"/>
          <p:nvPr/>
        </p:nvSpPr>
        <p:spPr>
          <a:xfrm>
            <a:off x="548640" y="2743200"/>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New Jersey companies.</a:t>
            </a:r>
            <a:endParaRPr sz="2800">
              <a:solidFill>
                <a:schemeClr val="dk1"/>
              </a:solidFill>
              <a:latin typeface="Calibri"/>
              <a:ea typeface="Calibri"/>
              <a:cs typeface="Calibri"/>
              <a:sym typeface="Calibri"/>
            </a:endParaRPr>
          </a:p>
        </p:txBody>
      </p:sp>
      <p:sp>
        <p:nvSpPr>
          <p:cNvPr id="397" name="Google Shape;397;p12"/>
          <p:cNvSpPr/>
          <p:nvPr/>
        </p:nvSpPr>
        <p:spPr>
          <a:xfrm>
            <a:off x="548640" y="3703320"/>
            <a:ext cx="3474720" cy="2011680"/>
          </a:xfrm>
          <a:prstGeom prst="roundRect">
            <a:avLst>
              <a:gd fmla="val 9091"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2"/>
          <p:cNvSpPr/>
          <p:nvPr/>
        </p:nvSpPr>
        <p:spPr>
          <a:xfrm>
            <a:off x="822960" y="397764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99" name="Google Shape;399;p12"/>
          <p:cNvPicPr preferRelativeResize="0"/>
          <p:nvPr/>
        </p:nvPicPr>
        <p:blipFill rotWithShape="1">
          <a:blip r:embed="rId3">
            <a:alphaModFix/>
          </a:blip>
          <a:srcRect b="0" l="0" r="0" t="0"/>
          <a:stretch/>
        </p:blipFill>
        <p:spPr>
          <a:xfrm>
            <a:off x="960120" y="4114800"/>
            <a:ext cx="274320" cy="274320"/>
          </a:xfrm>
          <a:prstGeom prst="rect">
            <a:avLst/>
          </a:prstGeom>
          <a:noFill/>
          <a:ln>
            <a:noFill/>
          </a:ln>
        </p:spPr>
      </p:pic>
      <p:sp>
        <p:nvSpPr>
          <p:cNvPr id="400" name="Google Shape;400;p12"/>
          <p:cNvSpPr txBox="1"/>
          <p:nvPr/>
        </p:nvSpPr>
        <p:spPr>
          <a:xfrm>
            <a:off x="3200400" y="402336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400"/>
              <a:buFont typeface="Calibri"/>
              <a:buNone/>
            </a:pPr>
            <a:r>
              <a:rPr b="1" lang="en-US" sz="1400">
                <a:solidFill>
                  <a:srgbClr val="5E6B63"/>
                </a:solidFill>
                <a:latin typeface="Calibri"/>
                <a:ea typeface="Calibri"/>
                <a:cs typeface="Calibri"/>
                <a:sym typeface="Calibri"/>
              </a:rPr>
              <a:t>01</a:t>
            </a:r>
            <a:endParaRPr sz="1400">
              <a:solidFill>
                <a:schemeClr val="dk1"/>
              </a:solidFill>
              <a:latin typeface="Calibri"/>
              <a:ea typeface="Calibri"/>
              <a:cs typeface="Calibri"/>
              <a:sym typeface="Calibri"/>
            </a:endParaRPr>
          </a:p>
        </p:txBody>
      </p:sp>
      <p:sp>
        <p:nvSpPr>
          <p:cNvPr id="401" name="Google Shape;401;p12"/>
          <p:cNvSpPr txBox="1"/>
          <p:nvPr/>
        </p:nvSpPr>
        <p:spPr>
          <a:xfrm>
            <a:off x="822960" y="466344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900"/>
              <a:buFont typeface="Calibri"/>
              <a:buNone/>
            </a:pPr>
            <a:r>
              <a:rPr b="1" lang="en-US" sz="1900">
                <a:solidFill>
                  <a:srgbClr val="17261D"/>
                </a:solidFill>
                <a:latin typeface="Calibri"/>
                <a:ea typeface="Calibri"/>
                <a:cs typeface="Calibri"/>
                <a:sym typeface="Calibri"/>
              </a:rPr>
              <a:t>Working prototype</a:t>
            </a:r>
            <a:endParaRPr sz="1900">
              <a:solidFill>
                <a:schemeClr val="dk1"/>
              </a:solidFill>
              <a:latin typeface="Calibri"/>
              <a:ea typeface="Calibri"/>
              <a:cs typeface="Calibri"/>
              <a:sym typeface="Calibri"/>
            </a:endParaRPr>
          </a:p>
        </p:txBody>
      </p:sp>
      <p:sp>
        <p:nvSpPr>
          <p:cNvPr id="402" name="Google Shape;402;p12"/>
          <p:cNvSpPr txBox="1"/>
          <p:nvPr/>
        </p:nvSpPr>
        <p:spPr>
          <a:xfrm>
            <a:off x="822960" y="5074920"/>
            <a:ext cx="3017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400"/>
              <a:buFont typeface="Calibri"/>
              <a:buNone/>
            </a:pPr>
            <a:r>
              <a:rPr lang="en-US" sz="1400">
                <a:solidFill>
                  <a:srgbClr val="5E6B63"/>
                </a:solidFill>
                <a:latin typeface="Calibri"/>
                <a:ea typeface="Calibri"/>
                <a:cs typeface="Calibri"/>
                <a:sym typeface="Calibri"/>
              </a:rPr>
              <a:t>Map, ranked list, and company profiles</a:t>
            </a:r>
            <a:endParaRPr sz="1400">
              <a:solidFill>
                <a:schemeClr val="dk1"/>
              </a:solidFill>
              <a:latin typeface="Calibri"/>
              <a:ea typeface="Calibri"/>
              <a:cs typeface="Calibri"/>
              <a:sym typeface="Calibri"/>
            </a:endParaRPr>
          </a:p>
        </p:txBody>
      </p:sp>
      <p:sp>
        <p:nvSpPr>
          <p:cNvPr id="403" name="Google Shape;403;p12"/>
          <p:cNvSpPr/>
          <p:nvPr/>
        </p:nvSpPr>
        <p:spPr>
          <a:xfrm>
            <a:off x="4297680" y="3703320"/>
            <a:ext cx="3474720" cy="2011680"/>
          </a:xfrm>
          <a:prstGeom prst="roundRect">
            <a:avLst>
              <a:gd fmla="val 9091"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2"/>
          <p:cNvSpPr/>
          <p:nvPr/>
        </p:nvSpPr>
        <p:spPr>
          <a:xfrm>
            <a:off x="4572000" y="397764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05" name="Google Shape;405;p12"/>
          <p:cNvPicPr preferRelativeResize="0"/>
          <p:nvPr/>
        </p:nvPicPr>
        <p:blipFill rotWithShape="1">
          <a:blip r:embed="rId4">
            <a:alphaModFix/>
          </a:blip>
          <a:srcRect b="0" l="0" r="0" t="0"/>
          <a:stretch/>
        </p:blipFill>
        <p:spPr>
          <a:xfrm>
            <a:off x="4709160" y="4114800"/>
            <a:ext cx="274320" cy="274320"/>
          </a:xfrm>
          <a:prstGeom prst="rect">
            <a:avLst/>
          </a:prstGeom>
          <a:noFill/>
          <a:ln>
            <a:noFill/>
          </a:ln>
        </p:spPr>
      </p:pic>
      <p:sp>
        <p:nvSpPr>
          <p:cNvPr id="406" name="Google Shape;406;p12"/>
          <p:cNvSpPr txBox="1"/>
          <p:nvPr/>
        </p:nvSpPr>
        <p:spPr>
          <a:xfrm>
            <a:off x="6949440" y="402336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400"/>
              <a:buFont typeface="Calibri"/>
              <a:buNone/>
            </a:pPr>
            <a:r>
              <a:rPr b="1" lang="en-US" sz="1400">
                <a:solidFill>
                  <a:srgbClr val="5E6B63"/>
                </a:solidFill>
                <a:latin typeface="Calibri"/>
                <a:ea typeface="Calibri"/>
                <a:cs typeface="Calibri"/>
                <a:sym typeface="Calibri"/>
              </a:rPr>
              <a:t>02</a:t>
            </a:r>
            <a:endParaRPr sz="1400">
              <a:solidFill>
                <a:schemeClr val="dk1"/>
              </a:solidFill>
              <a:latin typeface="Calibri"/>
              <a:ea typeface="Calibri"/>
              <a:cs typeface="Calibri"/>
              <a:sym typeface="Calibri"/>
            </a:endParaRPr>
          </a:p>
        </p:txBody>
      </p:sp>
      <p:sp>
        <p:nvSpPr>
          <p:cNvPr id="407" name="Google Shape;407;p12"/>
          <p:cNvSpPr txBox="1"/>
          <p:nvPr/>
        </p:nvSpPr>
        <p:spPr>
          <a:xfrm>
            <a:off x="4572000" y="466344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900"/>
              <a:buFont typeface="Calibri"/>
              <a:buNone/>
            </a:pPr>
            <a:r>
              <a:rPr b="1" lang="en-US" sz="1900">
                <a:solidFill>
                  <a:srgbClr val="17261D"/>
                </a:solidFill>
                <a:latin typeface="Calibri"/>
                <a:ea typeface="Calibri"/>
                <a:cs typeface="Calibri"/>
                <a:sym typeface="Calibri"/>
              </a:rPr>
              <a:t>Startup scoring</a:t>
            </a:r>
            <a:endParaRPr sz="1900">
              <a:solidFill>
                <a:schemeClr val="dk1"/>
              </a:solidFill>
              <a:latin typeface="Calibri"/>
              <a:ea typeface="Calibri"/>
              <a:cs typeface="Calibri"/>
              <a:sym typeface="Calibri"/>
            </a:endParaRPr>
          </a:p>
        </p:txBody>
      </p:sp>
      <p:sp>
        <p:nvSpPr>
          <p:cNvPr id="408" name="Google Shape;408;p12"/>
          <p:cNvSpPr txBox="1"/>
          <p:nvPr/>
        </p:nvSpPr>
        <p:spPr>
          <a:xfrm>
            <a:off x="4572000" y="5074920"/>
            <a:ext cx="3017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400"/>
              <a:buFont typeface="Calibri"/>
              <a:buNone/>
            </a:pPr>
            <a:r>
              <a:rPr lang="en-US" sz="1400">
                <a:solidFill>
                  <a:srgbClr val="5E6B63"/>
                </a:solidFill>
                <a:latin typeface="Calibri"/>
                <a:ea typeface="Calibri"/>
                <a:cs typeface="Calibri"/>
                <a:sym typeface="Calibri"/>
              </a:rPr>
              <a:t>Signal filters and adjustable weights</a:t>
            </a:r>
            <a:endParaRPr sz="1400">
              <a:solidFill>
                <a:schemeClr val="dk1"/>
              </a:solidFill>
              <a:latin typeface="Calibri"/>
              <a:ea typeface="Calibri"/>
              <a:cs typeface="Calibri"/>
              <a:sym typeface="Calibri"/>
            </a:endParaRPr>
          </a:p>
        </p:txBody>
      </p:sp>
      <p:sp>
        <p:nvSpPr>
          <p:cNvPr id="409" name="Google Shape;409;p12"/>
          <p:cNvSpPr/>
          <p:nvPr/>
        </p:nvSpPr>
        <p:spPr>
          <a:xfrm>
            <a:off x="8046720" y="3703320"/>
            <a:ext cx="3474720" cy="2011680"/>
          </a:xfrm>
          <a:prstGeom prst="roundRect">
            <a:avLst>
              <a:gd fmla="val 9091"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2"/>
          <p:cNvSpPr/>
          <p:nvPr/>
        </p:nvSpPr>
        <p:spPr>
          <a:xfrm>
            <a:off x="8321040" y="3977640"/>
            <a:ext cx="548640" cy="548640"/>
          </a:xfrm>
          <a:prstGeom prst="roundRect">
            <a:avLst>
              <a:gd fmla="val 28000" name="adj"/>
            </a:avLst>
          </a:prstGeom>
          <a:solidFill>
            <a:srgbClr val="E0F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11" name="Google Shape;411;p12"/>
          <p:cNvPicPr preferRelativeResize="0"/>
          <p:nvPr/>
        </p:nvPicPr>
        <p:blipFill rotWithShape="1">
          <a:blip r:embed="rId5">
            <a:alphaModFix/>
          </a:blip>
          <a:srcRect b="0" l="0" r="0" t="0"/>
          <a:stretch/>
        </p:blipFill>
        <p:spPr>
          <a:xfrm>
            <a:off x="8458200" y="4114800"/>
            <a:ext cx="274320" cy="274320"/>
          </a:xfrm>
          <a:prstGeom prst="rect">
            <a:avLst/>
          </a:prstGeom>
          <a:noFill/>
          <a:ln>
            <a:noFill/>
          </a:ln>
        </p:spPr>
      </p:pic>
      <p:sp>
        <p:nvSpPr>
          <p:cNvPr id="412" name="Google Shape;412;p12"/>
          <p:cNvSpPr txBox="1"/>
          <p:nvPr/>
        </p:nvSpPr>
        <p:spPr>
          <a:xfrm>
            <a:off x="10698480" y="4023360"/>
            <a:ext cx="54864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E6B63"/>
              </a:buClr>
              <a:buSzPts val="1400"/>
              <a:buFont typeface="Calibri"/>
              <a:buNone/>
            </a:pPr>
            <a:r>
              <a:rPr b="1" lang="en-US" sz="1400">
                <a:solidFill>
                  <a:srgbClr val="5E6B63"/>
                </a:solidFill>
                <a:latin typeface="Calibri"/>
                <a:ea typeface="Calibri"/>
                <a:cs typeface="Calibri"/>
                <a:sym typeface="Calibri"/>
              </a:rPr>
              <a:t>03</a:t>
            </a:r>
            <a:endParaRPr sz="1400">
              <a:solidFill>
                <a:schemeClr val="dk1"/>
              </a:solidFill>
              <a:latin typeface="Calibri"/>
              <a:ea typeface="Calibri"/>
              <a:cs typeface="Calibri"/>
              <a:sym typeface="Calibri"/>
            </a:endParaRPr>
          </a:p>
        </p:txBody>
      </p:sp>
      <p:sp>
        <p:nvSpPr>
          <p:cNvPr id="413" name="Google Shape;413;p12"/>
          <p:cNvSpPr txBox="1"/>
          <p:nvPr/>
        </p:nvSpPr>
        <p:spPr>
          <a:xfrm>
            <a:off x="8321040" y="4663440"/>
            <a:ext cx="3017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61D"/>
              </a:buClr>
              <a:buSzPts val="1900"/>
              <a:buFont typeface="Calibri"/>
              <a:buNone/>
            </a:pPr>
            <a:r>
              <a:rPr b="1" lang="en-US" sz="1900">
                <a:solidFill>
                  <a:srgbClr val="17261D"/>
                </a:solidFill>
                <a:latin typeface="Calibri"/>
                <a:ea typeface="Calibri"/>
                <a:cs typeface="Calibri"/>
                <a:sym typeface="Calibri"/>
              </a:rPr>
              <a:t>Sector intelligence</a:t>
            </a:r>
            <a:endParaRPr sz="1900">
              <a:solidFill>
                <a:schemeClr val="dk1"/>
              </a:solidFill>
              <a:latin typeface="Calibri"/>
              <a:ea typeface="Calibri"/>
              <a:cs typeface="Calibri"/>
              <a:sym typeface="Calibri"/>
            </a:endParaRPr>
          </a:p>
        </p:txBody>
      </p:sp>
      <p:sp>
        <p:nvSpPr>
          <p:cNvPr id="414" name="Google Shape;414;p12"/>
          <p:cNvSpPr txBox="1"/>
          <p:nvPr/>
        </p:nvSpPr>
        <p:spPr>
          <a:xfrm>
            <a:off x="8321040" y="5074920"/>
            <a:ext cx="3017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6B63"/>
              </a:buClr>
              <a:buSzPts val="1400"/>
              <a:buFont typeface="Calibri"/>
              <a:buNone/>
            </a:pPr>
            <a:r>
              <a:rPr lang="en-US" sz="1400">
                <a:solidFill>
                  <a:srgbClr val="5E6B63"/>
                </a:solidFill>
                <a:latin typeface="Calibri"/>
                <a:ea typeface="Calibri"/>
                <a:cs typeface="Calibri"/>
                <a:sym typeface="Calibri"/>
              </a:rPr>
              <a:t>Clusters and trends across the state</a:t>
            </a:r>
            <a:endParaRPr sz="1400">
              <a:solidFill>
                <a:schemeClr val="dk1"/>
              </a:solidFill>
              <a:latin typeface="Calibri"/>
              <a:ea typeface="Calibri"/>
              <a:cs typeface="Calibri"/>
              <a:sym typeface="Calibri"/>
            </a:endParaRPr>
          </a:p>
        </p:txBody>
      </p:sp>
      <p:sp>
        <p:nvSpPr>
          <p:cNvPr id="415" name="Google Shape;415;p12"/>
          <p:cNvSpPr txBox="1"/>
          <p:nvPr/>
        </p:nvSpPr>
        <p:spPr>
          <a:xfrm>
            <a:off x="548640" y="6035040"/>
            <a:ext cx="109728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E0CF"/>
              </a:buClr>
              <a:buSzPts val="1300"/>
              <a:buFont typeface="Calibri"/>
              <a:buNone/>
            </a:pPr>
            <a:r>
              <a:rPr i="1" lang="en-US" sz="1300">
                <a:solidFill>
                  <a:srgbClr val="C9E0CF"/>
                </a:solidFill>
                <a:latin typeface="Calibri"/>
                <a:ea typeface="Calibri"/>
                <a:cs typeface="Calibri"/>
                <a:sym typeface="Calibri"/>
              </a:rPr>
              <a:t>Real data where quick to access. Clearly labeled samples where needed.</a:t>
            </a:r>
            <a:endParaRPr sz="13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2026-09-25T17:25:05Z</dcterms:created>
  <dc:creator>PptxGenJS</dc:creator>
</cp:coreProperties>
</file>